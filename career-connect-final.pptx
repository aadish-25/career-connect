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11.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sldIdLst>
    <p:sldId id="256" r:id="rId2"/>
    <p:sldId id="311" r:id="rId3"/>
    <p:sldId id="300" r:id="rId4"/>
    <p:sldId id="277" r:id="rId5"/>
    <p:sldId id="312" r:id="rId6"/>
    <p:sldId id="313" r:id="rId7"/>
    <p:sldId id="316" r:id="rId8"/>
    <p:sldId id="317" r:id="rId9"/>
    <p:sldId id="318" r:id="rId10"/>
    <p:sldId id="303" r:id="rId11"/>
    <p:sldId id="304" r:id="rId12"/>
    <p:sldId id="319" r:id="rId13"/>
    <p:sldId id="314" r:id="rId14"/>
    <p:sldId id="320" r:id="rId15"/>
    <p:sldId id="322" r:id="rId16"/>
    <p:sldId id="321" r:id="rId17"/>
    <p:sldId id="308" r:id="rId18"/>
    <p:sldId id="276" r:id="rId19"/>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68" y="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4255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4819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31076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49308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33718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60797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657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24093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41625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26399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36002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6349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4479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41813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6889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69296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4/16/2025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56382709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7622" y="126192"/>
            <a:ext cx="1942640" cy="2321550"/>
          </a:xfrm>
          <a:prstGeom prst="rect">
            <a:avLst/>
          </a:prstGeom>
        </p:spPr>
      </p:pic>
      <p:pic>
        <p:nvPicPr>
          <p:cNvPr id="3" name="object 3"/>
          <p:cNvPicPr/>
          <p:nvPr/>
        </p:nvPicPr>
        <p:blipFill>
          <a:blip r:embed="rId3" cstate="print"/>
          <a:stretch>
            <a:fillRect/>
          </a:stretch>
        </p:blipFill>
        <p:spPr>
          <a:xfrm>
            <a:off x="9031223" y="112776"/>
            <a:ext cx="2529839" cy="2179320"/>
          </a:xfrm>
          <a:prstGeom prst="rect">
            <a:avLst/>
          </a:prstGeom>
        </p:spPr>
      </p:pic>
      <p:sp>
        <p:nvSpPr>
          <p:cNvPr id="4" name="object 4"/>
          <p:cNvSpPr txBox="1">
            <a:spLocks noGrp="1"/>
          </p:cNvSpPr>
          <p:nvPr>
            <p:ph type="title"/>
          </p:nvPr>
        </p:nvSpPr>
        <p:spPr>
          <a:xfrm>
            <a:off x="3407409" y="468579"/>
            <a:ext cx="4867910" cy="1672589"/>
          </a:xfrm>
          <a:prstGeom prst="rect">
            <a:avLst/>
          </a:prstGeom>
        </p:spPr>
        <p:txBody>
          <a:bodyPr vert="horz" wrap="square" lIns="0" tIns="12700" rIns="0" bIns="0" rtlCol="0">
            <a:spAutoFit/>
          </a:bodyPr>
          <a:lstStyle/>
          <a:p>
            <a:pPr marL="12065" marR="5080" indent="-2540" algn="ctr">
              <a:lnSpc>
                <a:spcPct val="100000"/>
              </a:lnSpc>
              <a:spcBef>
                <a:spcPts val="100"/>
              </a:spcBef>
            </a:pPr>
            <a:r>
              <a:rPr sz="3600" b="0" dirty="0">
                <a:solidFill>
                  <a:srgbClr val="000000"/>
                </a:solidFill>
                <a:latin typeface="Calibri"/>
                <a:cs typeface="Calibri"/>
              </a:rPr>
              <a:t>Modern</a:t>
            </a:r>
            <a:r>
              <a:rPr sz="3600" b="0" spc="-40" dirty="0">
                <a:solidFill>
                  <a:srgbClr val="000000"/>
                </a:solidFill>
                <a:latin typeface="Calibri"/>
                <a:cs typeface="Calibri"/>
              </a:rPr>
              <a:t> </a:t>
            </a:r>
            <a:r>
              <a:rPr sz="3600" b="0" spc="-10" dirty="0">
                <a:solidFill>
                  <a:srgbClr val="000000"/>
                </a:solidFill>
                <a:latin typeface="Calibri"/>
                <a:cs typeface="Calibri"/>
              </a:rPr>
              <a:t>Education </a:t>
            </a:r>
            <a:r>
              <a:rPr sz="3600" b="0" dirty="0">
                <a:solidFill>
                  <a:srgbClr val="000000"/>
                </a:solidFill>
                <a:latin typeface="Calibri"/>
                <a:cs typeface="Calibri"/>
              </a:rPr>
              <a:t>Society's</a:t>
            </a:r>
            <a:r>
              <a:rPr sz="3600" b="0" spc="-95" dirty="0">
                <a:solidFill>
                  <a:srgbClr val="000000"/>
                </a:solidFill>
                <a:latin typeface="Calibri"/>
                <a:cs typeface="Calibri"/>
              </a:rPr>
              <a:t> </a:t>
            </a:r>
            <a:r>
              <a:rPr sz="3600" b="0" dirty="0">
                <a:solidFill>
                  <a:srgbClr val="000000"/>
                </a:solidFill>
                <a:latin typeface="Calibri"/>
                <a:cs typeface="Calibri"/>
              </a:rPr>
              <a:t>Wadia</a:t>
            </a:r>
            <a:r>
              <a:rPr sz="3600" b="0" spc="-90" dirty="0">
                <a:solidFill>
                  <a:srgbClr val="000000"/>
                </a:solidFill>
                <a:latin typeface="Calibri"/>
                <a:cs typeface="Calibri"/>
              </a:rPr>
              <a:t> </a:t>
            </a:r>
            <a:r>
              <a:rPr sz="3600" b="0" dirty="0">
                <a:solidFill>
                  <a:srgbClr val="000000"/>
                </a:solidFill>
                <a:latin typeface="Calibri"/>
                <a:cs typeface="Calibri"/>
              </a:rPr>
              <a:t>College</a:t>
            </a:r>
            <a:r>
              <a:rPr sz="3600" b="0" spc="-90" dirty="0">
                <a:solidFill>
                  <a:srgbClr val="000000"/>
                </a:solidFill>
                <a:latin typeface="Calibri"/>
                <a:cs typeface="Calibri"/>
              </a:rPr>
              <a:t> </a:t>
            </a:r>
            <a:r>
              <a:rPr sz="3600" b="0" spc="-25" dirty="0">
                <a:solidFill>
                  <a:srgbClr val="000000"/>
                </a:solidFill>
                <a:latin typeface="Calibri"/>
                <a:cs typeface="Calibri"/>
              </a:rPr>
              <a:t>of </a:t>
            </a:r>
            <a:r>
              <a:rPr sz="3600" b="0" dirty="0">
                <a:solidFill>
                  <a:srgbClr val="000000"/>
                </a:solidFill>
                <a:latin typeface="Calibri"/>
                <a:cs typeface="Calibri"/>
              </a:rPr>
              <a:t>Engineering</a:t>
            </a:r>
            <a:r>
              <a:rPr sz="3600" b="0" spc="-40" dirty="0">
                <a:solidFill>
                  <a:srgbClr val="000000"/>
                </a:solidFill>
                <a:latin typeface="Calibri"/>
                <a:cs typeface="Calibri"/>
              </a:rPr>
              <a:t> </a:t>
            </a:r>
            <a:r>
              <a:rPr sz="3600" b="0" spc="-10" dirty="0">
                <a:solidFill>
                  <a:srgbClr val="000000"/>
                </a:solidFill>
                <a:latin typeface="Calibri"/>
                <a:cs typeface="Calibri"/>
              </a:rPr>
              <a:t>(MESWCOE)</a:t>
            </a:r>
            <a:endParaRPr sz="3600">
              <a:latin typeface="Calibri"/>
              <a:cs typeface="Calibri"/>
            </a:endParaRPr>
          </a:p>
        </p:txBody>
      </p:sp>
      <p:sp>
        <p:nvSpPr>
          <p:cNvPr id="5" name="object 5"/>
          <p:cNvSpPr txBox="1">
            <a:spLocks noGrp="1"/>
          </p:cNvSpPr>
          <p:nvPr>
            <p:ph idx="1"/>
          </p:nvPr>
        </p:nvSpPr>
        <p:spPr>
          <a:xfrm>
            <a:off x="1447800" y="2555107"/>
            <a:ext cx="8596668" cy="1182375"/>
          </a:xfrm>
          <a:prstGeom prst="rect">
            <a:avLst/>
          </a:prstGeom>
        </p:spPr>
        <p:txBody>
          <a:bodyPr vert="horz" wrap="square" lIns="0" tIns="195580" rIns="0" bIns="0" rtlCol="0">
            <a:spAutoFit/>
          </a:bodyPr>
          <a:lstStyle/>
          <a:p>
            <a:pPr marL="12700" indent="0">
              <a:lnSpc>
                <a:spcPct val="100000"/>
              </a:lnSpc>
              <a:spcBef>
                <a:spcPts val="1540"/>
              </a:spcBef>
              <a:buNone/>
              <a:tabLst>
                <a:tab pos="240665" algn="l"/>
              </a:tabLst>
            </a:pPr>
            <a:r>
              <a:rPr lang="en-US" dirty="0"/>
              <a:t>                                   </a:t>
            </a:r>
            <a:r>
              <a:rPr dirty="0"/>
              <a:t>Department</a:t>
            </a:r>
            <a:r>
              <a:rPr spc="-130" dirty="0"/>
              <a:t> </a:t>
            </a:r>
            <a:r>
              <a:rPr dirty="0"/>
              <a:t>of</a:t>
            </a:r>
            <a:r>
              <a:rPr spc="-160" dirty="0"/>
              <a:t> </a:t>
            </a:r>
            <a:r>
              <a:rPr dirty="0"/>
              <a:t>Computer</a:t>
            </a:r>
            <a:r>
              <a:rPr spc="-145" dirty="0"/>
              <a:t> </a:t>
            </a:r>
            <a:r>
              <a:rPr spc="-10" dirty="0"/>
              <a:t>Engineering</a:t>
            </a:r>
          </a:p>
          <a:p>
            <a:pPr marL="0" indent="0" algn="ctr">
              <a:lnSpc>
                <a:spcPct val="100000"/>
              </a:lnSpc>
              <a:spcBef>
                <a:spcPts val="1190"/>
              </a:spcBef>
              <a:buNone/>
            </a:pPr>
            <a:r>
              <a:rPr sz="3600" spc="-55" dirty="0">
                <a:latin typeface="Calibri Light"/>
                <a:cs typeface="Calibri Light"/>
              </a:rPr>
              <a:t>Topic</a:t>
            </a:r>
            <a:r>
              <a:rPr sz="3600" spc="-120" dirty="0">
                <a:latin typeface="Calibri Light"/>
                <a:cs typeface="Calibri Light"/>
              </a:rPr>
              <a:t> </a:t>
            </a:r>
            <a:r>
              <a:rPr sz="3600" spc="-10" dirty="0">
                <a:latin typeface="Calibri Light"/>
                <a:cs typeface="Calibri Light"/>
              </a:rPr>
              <a:t>:-</a:t>
            </a:r>
            <a:r>
              <a:rPr lang="en-US" sz="3600" spc="-10" dirty="0">
                <a:latin typeface="Calibri Light"/>
                <a:cs typeface="Calibri Light"/>
              </a:rPr>
              <a:t>Career Connect</a:t>
            </a:r>
            <a:endParaRPr sz="3600" dirty="0">
              <a:latin typeface="Calibri Light"/>
              <a:cs typeface="Calibri Light"/>
            </a:endParaRPr>
          </a:p>
        </p:txBody>
      </p:sp>
      <p:sp>
        <p:nvSpPr>
          <p:cNvPr id="6" name="object 6"/>
          <p:cNvSpPr txBox="1"/>
          <p:nvPr/>
        </p:nvSpPr>
        <p:spPr>
          <a:xfrm>
            <a:off x="228600" y="4485815"/>
            <a:ext cx="3662679" cy="222881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Presented</a:t>
            </a:r>
            <a:r>
              <a:rPr sz="2400" spc="-15" dirty="0">
                <a:latin typeface="Times New Roman"/>
                <a:cs typeface="Times New Roman"/>
              </a:rPr>
              <a:t> </a:t>
            </a:r>
            <a:r>
              <a:rPr sz="2400" dirty="0">
                <a:latin typeface="Times New Roman"/>
                <a:cs typeface="Times New Roman"/>
              </a:rPr>
              <a:t>by</a:t>
            </a:r>
            <a:r>
              <a:rPr sz="2400" spc="-35" dirty="0">
                <a:latin typeface="Times New Roman"/>
                <a:cs typeface="Times New Roman"/>
              </a:rPr>
              <a:t> </a:t>
            </a:r>
            <a:r>
              <a:rPr sz="2400" spc="-25" dirty="0">
                <a:latin typeface="Times New Roman"/>
                <a:cs typeface="Times New Roman"/>
              </a:rPr>
              <a:t>:-</a:t>
            </a:r>
            <a:endParaRPr sz="2400" dirty="0">
              <a:latin typeface="Times New Roman"/>
              <a:cs typeface="Times New Roman"/>
            </a:endParaRPr>
          </a:p>
          <a:p>
            <a:pPr marL="927100" marR="5080">
              <a:lnSpc>
                <a:spcPct val="100000"/>
              </a:lnSpc>
            </a:pPr>
            <a:r>
              <a:rPr lang="en-US" sz="2400" spc="-60" dirty="0">
                <a:latin typeface="Times New Roman"/>
                <a:cs typeface="Times New Roman"/>
              </a:rPr>
              <a:t>Samyak Gaikwad  (01)</a:t>
            </a:r>
          </a:p>
          <a:p>
            <a:pPr marL="927100" marR="5080">
              <a:lnSpc>
                <a:spcPct val="100000"/>
              </a:lnSpc>
            </a:pPr>
            <a:r>
              <a:rPr lang="en-US" sz="2400" spc="-60" dirty="0">
                <a:latin typeface="Times New Roman"/>
                <a:cs typeface="Times New Roman"/>
              </a:rPr>
              <a:t>Siddhi </a:t>
            </a:r>
            <a:r>
              <a:rPr lang="en-US" sz="2400" spc="-60" dirty="0" err="1">
                <a:latin typeface="Times New Roman"/>
                <a:cs typeface="Times New Roman"/>
              </a:rPr>
              <a:t>Lolge</a:t>
            </a:r>
            <a:r>
              <a:rPr lang="en-US" sz="2400" spc="-60" dirty="0">
                <a:latin typeface="Times New Roman"/>
                <a:cs typeface="Times New Roman"/>
              </a:rPr>
              <a:t>          (04)</a:t>
            </a:r>
          </a:p>
          <a:p>
            <a:pPr marL="927100" marR="5080">
              <a:lnSpc>
                <a:spcPct val="100000"/>
              </a:lnSpc>
            </a:pPr>
            <a:r>
              <a:rPr lang="en-US" sz="2400" spc="-60" dirty="0">
                <a:latin typeface="Times New Roman"/>
                <a:cs typeface="Times New Roman"/>
              </a:rPr>
              <a:t>Pratik Dhawale      (14)</a:t>
            </a:r>
          </a:p>
          <a:p>
            <a:pPr marL="927100" marR="5080">
              <a:lnSpc>
                <a:spcPct val="100000"/>
              </a:lnSpc>
            </a:pPr>
            <a:r>
              <a:rPr lang="en-US" sz="2400" spc="-60" dirty="0">
                <a:latin typeface="Times New Roman"/>
                <a:cs typeface="Times New Roman"/>
              </a:rPr>
              <a:t>Aadish Sonawane  (41)</a:t>
            </a:r>
          </a:p>
          <a:p>
            <a:pPr marL="927100" marR="5080">
              <a:lnSpc>
                <a:spcPct val="100000"/>
              </a:lnSpc>
            </a:pPr>
            <a:r>
              <a:rPr lang="en-US" sz="2400" spc="-60" dirty="0">
                <a:latin typeface="Times New Roman"/>
                <a:cs typeface="Times New Roman"/>
              </a:rPr>
              <a:t>Ayush Butala          (44)</a:t>
            </a:r>
            <a:endParaRPr sz="2400" dirty="0">
              <a:latin typeface="Times New Roman"/>
              <a:cs typeface="Times New Roman"/>
            </a:endParaRPr>
          </a:p>
        </p:txBody>
      </p:sp>
      <p:sp>
        <p:nvSpPr>
          <p:cNvPr id="7" name="object 7"/>
          <p:cNvSpPr txBox="1"/>
          <p:nvPr/>
        </p:nvSpPr>
        <p:spPr>
          <a:xfrm>
            <a:off x="7955660" y="5182870"/>
            <a:ext cx="3818254" cy="718145"/>
          </a:xfrm>
          <a:prstGeom prst="rect">
            <a:avLst/>
          </a:prstGeom>
        </p:spPr>
        <p:txBody>
          <a:bodyPr vert="horz" wrap="square" lIns="0" tIns="12700" rIns="0" bIns="0" rtlCol="0">
            <a:spAutoFit/>
          </a:bodyPr>
          <a:lstStyle/>
          <a:p>
            <a:pPr marL="12700">
              <a:lnSpc>
                <a:spcPts val="2735"/>
              </a:lnSpc>
              <a:spcBef>
                <a:spcPts val="100"/>
              </a:spcBef>
            </a:pPr>
            <a:r>
              <a:rPr sz="2400" dirty="0">
                <a:latin typeface="Times New Roman"/>
                <a:cs typeface="Times New Roman"/>
              </a:rPr>
              <a:t>Guided</a:t>
            </a:r>
            <a:r>
              <a:rPr sz="2400" spc="-5" dirty="0">
                <a:latin typeface="Times New Roman"/>
                <a:cs typeface="Times New Roman"/>
              </a:rPr>
              <a:t> </a:t>
            </a:r>
            <a:r>
              <a:rPr sz="2400" dirty="0">
                <a:latin typeface="Times New Roman"/>
                <a:cs typeface="Times New Roman"/>
              </a:rPr>
              <a:t>by</a:t>
            </a:r>
            <a:r>
              <a:rPr sz="2400" spc="-10" dirty="0">
                <a:latin typeface="Times New Roman"/>
                <a:cs typeface="Times New Roman"/>
              </a:rPr>
              <a:t> </a:t>
            </a:r>
            <a:r>
              <a:rPr sz="2400" spc="-25" dirty="0">
                <a:latin typeface="Times New Roman"/>
                <a:cs typeface="Times New Roman"/>
              </a:rPr>
              <a:t>:-</a:t>
            </a:r>
            <a:endParaRPr lang="en-US" sz="2400" spc="-25" dirty="0">
              <a:latin typeface="Times New Roman"/>
              <a:cs typeface="Times New Roman"/>
            </a:endParaRPr>
          </a:p>
          <a:p>
            <a:pPr marL="12700">
              <a:lnSpc>
                <a:spcPts val="2735"/>
              </a:lnSpc>
              <a:spcBef>
                <a:spcPts val="100"/>
              </a:spcBef>
            </a:pPr>
            <a:r>
              <a:rPr lang="en-US" sz="2400" spc="-25" dirty="0">
                <a:latin typeface="Times New Roman"/>
                <a:cs typeface="Times New Roman"/>
              </a:rPr>
              <a:t>	Mrs. K.S. </a:t>
            </a:r>
            <a:r>
              <a:rPr lang="en-US" sz="2400" spc="-25" dirty="0" err="1">
                <a:latin typeface="Times New Roman"/>
                <a:cs typeface="Times New Roman"/>
              </a:rPr>
              <a:t>Jojare</a:t>
            </a:r>
            <a:endParaRPr sz="24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05D9-6BFD-2B6C-1E38-1913AAD08979}"/>
              </a:ext>
            </a:extLst>
          </p:cNvPr>
          <p:cNvSpPr>
            <a:spLocks noGrp="1"/>
          </p:cNvSpPr>
          <p:nvPr>
            <p:ph type="title"/>
          </p:nvPr>
        </p:nvSpPr>
        <p:spPr>
          <a:xfrm>
            <a:off x="990598" y="968491"/>
            <a:ext cx="3674919" cy="1296727"/>
          </a:xfrm>
        </p:spPr>
        <p:txBody>
          <a:bodyPr>
            <a:normAutofit/>
          </a:bodyPr>
          <a:lstStyle/>
          <a:p>
            <a:r>
              <a:rPr lang="en-US" sz="3600" dirty="0"/>
              <a:t>Introduction</a:t>
            </a:r>
            <a:endParaRPr lang="en-IN" sz="3600" dirty="0"/>
          </a:p>
        </p:txBody>
      </p:sp>
      <p:sp>
        <p:nvSpPr>
          <p:cNvPr id="3" name="Content Placeholder 2">
            <a:extLst>
              <a:ext uri="{FF2B5EF4-FFF2-40B4-BE49-F238E27FC236}">
                <a16:creationId xmlns:a16="http://schemas.microsoft.com/office/drawing/2014/main" id="{4BB760FF-0A2B-2727-E223-5804C4E87A79}"/>
              </a:ext>
            </a:extLst>
          </p:cNvPr>
          <p:cNvSpPr>
            <a:spLocks noGrp="1"/>
          </p:cNvSpPr>
          <p:nvPr>
            <p:ph idx="1"/>
          </p:nvPr>
        </p:nvSpPr>
        <p:spPr>
          <a:xfrm>
            <a:off x="990598" y="2477365"/>
            <a:ext cx="5533259" cy="3185679"/>
          </a:xfrm>
        </p:spPr>
        <p:txBody>
          <a:bodyPr>
            <a:noAutofit/>
          </a:bodyPr>
          <a:lstStyle/>
          <a:p>
            <a:r>
              <a:rPr lang="en-US" sz="1600" dirty="0"/>
              <a:t>The placement and internship process is a crucial aspect of a student’s academic journey, bridging the gap between education and professional careers. However, many colleges struggle with organizing and managing this process efficiently. Students often find it challenging to discover relevant job and internship opportunities, while placement officers face difficulties in handling large amounts of data. To address these challenges, this project proposes a </a:t>
            </a:r>
            <a:r>
              <a:rPr lang="en-US" sz="1600" b="1" dirty="0"/>
              <a:t>college-specific placement and internship platform</a:t>
            </a:r>
            <a:r>
              <a:rPr lang="en-US" sz="1600" dirty="0"/>
              <a:t> that enhances the experience for both students and administrators.</a:t>
            </a:r>
          </a:p>
        </p:txBody>
      </p:sp>
      <p:sp>
        <p:nvSpPr>
          <p:cNvPr id="4" name="Date Placeholder 3">
            <a:extLst>
              <a:ext uri="{FF2B5EF4-FFF2-40B4-BE49-F238E27FC236}">
                <a16:creationId xmlns:a16="http://schemas.microsoft.com/office/drawing/2014/main" id="{7F43D820-FFB2-0C16-6716-5E41F7017958}"/>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DAB95903-B7A4-2CA7-C72F-FCE9EBC8A7AE}"/>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BA0844C6-E8B1-D6B3-956A-CE7B340EECAF}"/>
              </a:ext>
            </a:extLst>
          </p:cNvPr>
          <p:cNvSpPr>
            <a:spLocks noGrp="1"/>
          </p:cNvSpPr>
          <p:nvPr>
            <p:ph type="sldNum" sz="quarter" idx="12"/>
          </p:nvPr>
        </p:nvSpPr>
        <p:spPr/>
        <p:txBody>
          <a:bodyPr/>
          <a:lstStyle/>
          <a:p>
            <a:fld id="{B5CEABB6-07DC-46E8-9B57-56EC44A396E5}" type="slidenum">
              <a:rPr lang="en-US" smtClean="0"/>
              <a:t>2</a:t>
            </a:fld>
            <a:endParaRPr lang="en-US" dirty="0"/>
          </a:p>
        </p:txBody>
      </p:sp>
    </p:spTree>
    <p:extLst>
      <p:ext uri="{BB962C8B-B14F-4D97-AF65-F5344CB8AC3E}">
        <p14:creationId xmlns:p14="http://schemas.microsoft.com/office/powerpoint/2010/main" val="949729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290075"/>
            <a:ext cx="5439884" cy="1072124"/>
          </a:xfrm>
        </p:spPr>
        <p:txBody>
          <a:bodyPr>
            <a:noAutofit/>
          </a:bodyPr>
          <a:lstStyle/>
          <a:p>
            <a:r>
              <a:rPr lang="en-US" sz="3600" spc="-150" dirty="0"/>
              <a:t>MOTIVATION</a:t>
            </a:r>
          </a:p>
        </p:txBody>
      </p:sp>
      <p:sp>
        <p:nvSpPr>
          <p:cNvPr id="3" name="Subtitle 2"/>
          <p:cNvSpPr>
            <a:spLocks noGrp="1"/>
          </p:cNvSpPr>
          <p:nvPr>
            <p:ph idx="1"/>
          </p:nvPr>
        </p:nvSpPr>
        <p:spPr>
          <a:xfrm>
            <a:off x="1083972" y="2362199"/>
            <a:ext cx="7374227" cy="2355607"/>
          </a:xfrm>
        </p:spPr>
        <p:txBody>
          <a:bodyPr>
            <a:noAutofit/>
          </a:bodyPr>
          <a:lstStyle/>
          <a:p>
            <a:pPr marL="400050" lvl="1" indent="0" algn="just">
              <a:buNone/>
            </a:pPr>
            <a:r>
              <a:rPr lang="en-US" sz="1800" b="0" i="0" dirty="0">
                <a:solidFill>
                  <a:schemeClr val="tx1"/>
                </a:solidFill>
                <a:effectLst/>
                <a:latin typeface="+mj-lt"/>
              </a:rPr>
              <a:t>As competition intensifies in both academics and career placements, there is a growing need for institutions and recruiters to identify well-rounded candidates. CGPA, though important, doesn’t reflect practical skills, problem-solving abilities, or real-world experience. Many students excel in coding platforms like </a:t>
            </a:r>
            <a:r>
              <a:rPr lang="en-US" sz="1800" b="0" i="0" dirty="0" err="1">
                <a:solidFill>
                  <a:schemeClr val="tx1"/>
                </a:solidFill>
                <a:effectLst/>
                <a:latin typeface="+mj-lt"/>
              </a:rPr>
              <a:t>LeetCode</a:t>
            </a:r>
            <a:r>
              <a:rPr lang="en-US" sz="1800" b="0" i="0" dirty="0">
                <a:solidFill>
                  <a:schemeClr val="tx1"/>
                </a:solidFill>
                <a:effectLst/>
                <a:latin typeface="+mj-lt"/>
              </a:rPr>
              <a:t> or contribute to open-source but remain unnoticed due to a lack of visibility. This leaderboard system is designed to bring those accomplishments forward in a measurable and structured way.</a:t>
            </a:r>
          </a:p>
        </p:txBody>
      </p:sp>
      <p:sp>
        <p:nvSpPr>
          <p:cNvPr id="6" name="Date Placeholder 5"/>
          <p:cNvSpPr>
            <a:spLocks noGrp="1"/>
          </p:cNvSpPr>
          <p:nvPr>
            <p:ph type="dt" sz="half" idx="10"/>
          </p:nvPr>
        </p:nvSpPr>
        <p:spPr>
          <a:xfrm>
            <a:off x="1333500" y="6356350"/>
            <a:ext cx="985157" cy="365125"/>
          </a:xfrm>
        </p:spPr>
        <p:txBody>
          <a:bodyPr/>
          <a:lstStyle/>
          <a:p>
            <a:r>
              <a:rPr lang="en-US" dirty="0"/>
              <a:t>2025</a:t>
            </a:r>
          </a:p>
        </p:txBody>
      </p:sp>
      <p:sp>
        <p:nvSpPr>
          <p:cNvPr id="5" name="Footer Placeholder 4"/>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p:cNvSpPr>
            <a:spLocks noGrp="1"/>
          </p:cNvSpPr>
          <p:nvPr>
            <p:ph type="sldNum" sz="quarter" idx="12"/>
          </p:nvPr>
        </p:nvSpPr>
        <p:spPr>
          <a:xfrm>
            <a:off x="5536305" y="6356350"/>
            <a:ext cx="987552" cy="365125"/>
          </a:xfrm>
        </p:spPr>
        <p:txBody>
          <a:bodyPr/>
          <a:lstStyle/>
          <a:p>
            <a:fld id="{19B51A1E-902D-48AF-9020-955120F399B6}" type="slidenum">
              <a:rPr lang="en-US" smtClean="0"/>
              <a:t>3</a:t>
            </a:fld>
            <a:endParaRPr lang="en-US" dirty="0"/>
          </a:p>
        </p:txBody>
      </p:sp>
    </p:spTree>
    <p:extLst>
      <p:ext uri="{BB962C8B-B14F-4D97-AF65-F5344CB8AC3E}">
        <p14:creationId xmlns:p14="http://schemas.microsoft.com/office/powerpoint/2010/main" val="2709339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973" y="1068071"/>
            <a:ext cx="5439884" cy="1072124"/>
          </a:xfrm>
        </p:spPr>
        <p:txBody>
          <a:bodyPr>
            <a:noAutofit/>
          </a:bodyPr>
          <a:lstStyle/>
          <a:p>
            <a:r>
              <a:rPr lang="en-US" sz="3600" spc="-150" dirty="0"/>
              <a:t>PROBLEM STATEMENT </a:t>
            </a:r>
          </a:p>
        </p:txBody>
      </p:sp>
      <p:sp>
        <p:nvSpPr>
          <p:cNvPr id="3" name="Subtitle 2"/>
          <p:cNvSpPr>
            <a:spLocks noGrp="1"/>
          </p:cNvSpPr>
          <p:nvPr>
            <p:ph idx="1"/>
          </p:nvPr>
        </p:nvSpPr>
        <p:spPr>
          <a:xfrm>
            <a:off x="1083973" y="2362199"/>
            <a:ext cx="4545302" cy="3667125"/>
          </a:xfrm>
        </p:spPr>
        <p:txBody>
          <a:bodyPr>
            <a:normAutofit/>
          </a:bodyPr>
          <a:lstStyle/>
          <a:p>
            <a:r>
              <a:rPr lang="en-US" sz="1600" b="0" dirty="0">
                <a:solidFill>
                  <a:schemeClr val="tx1">
                    <a:lumMod val="95000"/>
                    <a:lumOff val="5000"/>
                  </a:schemeClr>
                </a:solidFill>
                <a:effectLst/>
                <a:latin typeface="+mj-lt"/>
              </a:rPr>
              <a:t>The placement and internship process in colleges is often disorganized, making it difficult for students to find relevant opportunities and for placement officers to manage data efficiently. This project aims to create a college-specific platform that recommends jobs and internships based on CGPA and skills, motivates students through a gamified leaderboard, and provides an admin dashboard for streamlined management.</a:t>
            </a:r>
            <a:endParaRPr lang="en-US" sz="1600" dirty="0">
              <a:solidFill>
                <a:schemeClr val="tx1">
                  <a:lumMod val="95000"/>
                  <a:lumOff val="5000"/>
                </a:schemeClr>
              </a:solidFill>
              <a:latin typeface="+mj-lt"/>
            </a:endParaRPr>
          </a:p>
        </p:txBody>
      </p:sp>
      <p:sp>
        <p:nvSpPr>
          <p:cNvPr id="6" name="Date Placeholder 5"/>
          <p:cNvSpPr>
            <a:spLocks noGrp="1"/>
          </p:cNvSpPr>
          <p:nvPr>
            <p:ph type="dt" sz="half" idx="10"/>
          </p:nvPr>
        </p:nvSpPr>
        <p:spPr>
          <a:xfrm>
            <a:off x="1333500" y="6356350"/>
            <a:ext cx="985157" cy="365125"/>
          </a:xfrm>
        </p:spPr>
        <p:txBody>
          <a:bodyPr/>
          <a:lstStyle/>
          <a:p>
            <a:r>
              <a:rPr lang="en-US" dirty="0"/>
              <a:t>2025</a:t>
            </a:r>
          </a:p>
        </p:txBody>
      </p:sp>
      <p:sp>
        <p:nvSpPr>
          <p:cNvPr id="5" name="Footer Placeholder 4"/>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p:cNvSpPr>
            <a:spLocks noGrp="1"/>
          </p:cNvSpPr>
          <p:nvPr>
            <p:ph type="sldNum" sz="quarter" idx="12"/>
          </p:nvPr>
        </p:nvSpPr>
        <p:spPr>
          <a:xfrm>
            <a:off x="5536305" y="6356350"/>
            <a:ext cx="987552" cy="365125"/>
          </a:xfrm>
        </p:spPr>
        <p:txBody>
          <a:bodyPr/>
          <a:lstStyle/>
          <a:p>
            <a:fld id="{19B51A1E-902D-48AF-9020-955120F399B6}" type="slidenum">
              <a:rPr lang="en-US" smtClean="0"/>
              <a:t>4</a:t>
            </a:fld>
            <a:endParaRPr lang="en-US" dirty="0"/>
          </a:p>
        </p:txBody>
      </p:sp>
    </p:spTree>
    <p:extLst>
      <p:ext uri="{BB962C8B-B14F-4D97-AF65-F5344CB8AC3E}">
        <p14:creationId xmlns:p14="http://schemas.microsoft.com/office/powerpoint/2010/main" val="426942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1F82-016F-F598-A03C-3D2751DDF7A8}"/>
              </a:ext>
            </a:extLst>
          </p:cNvPr>
          <p:cNvSpPr>
            <a:spLocks noGrp="1"/>
          </p:cNvSpPr>
          <p:nvPr>
            <p:ph type="title"/>
          </p:nvPr>
        </p:nvSpPr>
        <p:spPr>
          <a:xfrm>
            <a:off x="839723" y="1132608"/>
            <a:ext cx="5190358" cy="527599"/>
          </a:xfrm>
        </p:spPr>
        <p:txBody>
          <a:bodyPr>
            <a:normAutofit fontScale="90000"/>
          </a:bodyPr>
          <a:lstStyle/>
          <a:p>
            <a:r>
              <a:rPr lang="en-US" dirty="0"/>
              <a:t>Literature survey</a:t>
            </a:r>
            <a:endParaRPr lang="en-IN" dirty="0"/>
          </a:p>
        </p:txBody>
      </p:sp>
      <p:sp>
        <p:nvSpPr>
          <p:cNvPr id="4" name="Date Placeholder 3">
            <a:extLst>
              <a:ext uri="{FF2B5EF4-FFF2-40B4-BE49-F238E27FC236}">
                <a16:creationId xmlns:a16="http://schemas.microsoft.com/office/drawing/2014/main" id="{FA1DC48A-3A07-E29B-EE6C-93B9FF648E21}"/>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4268BD29-59CB-7CD6-2094-7B475F57FEB3}"/>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461C5E22-5E47-A49E-3758-78E1BF7BEC15}"/>
              </a:ext>
            </a:extLst>
          </p:cNvPr>
          <p:cNvSpPr>
            <a:spLocks noGrp="1"/>
          </p:cNvSpPr>
          <p:nvPr>
            <p:ph type="sldNum" sz="quarter" idx="12"/>
          </p:nvPr>
        </p:nvSpPr>
        <p:spPr/>
        <p:txBody>
          <a:bodyPr/>
          <a:lstStyle/>
          <a:p>
            <a:fld id="{B5CEABB6-07DC-46E8-9B57-56EC44A396E5}" type="slidenum">
              <a:rPr lang="en-US" smtClean="0"/>
              <a:t>5</a:t>
            </a:fld>
            <a:endParaRPr lang="en-US" dirty="0"/>
          </a:p>
        </p:txBody>
      </p:sp>
      <p:graphicFrame>
        <p:nvGraphicFramePr>
          <p:cNvPr id="7" name="Table 6">
            <a:extLst>
              <a:ext uri="{FF2B5EF4-FFF2-40B4-BE49-F238E27FC236}">
                <a16:creationId xmlns:a16="http://schemas.microsoft.com/office/drawing/2014/main" id="{A31A0B4F-4201-0B8A-D386-958D8B97B378}"/>
              </a:ext>
            </a:extLst>
          </p:cNvPr>
          <p:cNvGraphicFramePr>
            <a:graphicFrameLocks noGrp="1"/>
          </p:cNvGraphicFramePr>
          <p:nvPr>
            <p:extLst>
              <p:ext uri="{D42A27DB-BD31-4B8C-83A1-F6EECF244321}">
                <p14:modId xmlns:p14="http://schemas.microsoft.com/office/powerpoint/2010/main" val="1504049649"/>
              </p:ext>
            </p:extLst>
          </p:nvPr>
        </p:nvGraphicFramePr>
        <p:xfrm>
          <a:off x="76201" y="1828801"/>
          <a:ext cx="11430000" cy="3914839"/>
        </p:xfrm>
        <a:graphic>
          <a:graphicData uri="http://schemas.openxmlformats.org/drawingml/2006/table">
            <a:tbl>
              <a:tblPr firstRow="1" bandRow="1">
                <a:tableStyleId>{21E4AEA4-8DFA-4A89-87EB-49C32662AFE0}</a:tableStyleId>
              </a:tblPr>
              <a:tblGrid>
                <a:gridCol w="1186105">
                  <a:extLst>
                    <a:ext uri="{9D8B030D-6E8A-4147-A177-3AD203B41FA5}">
                      <a16:colId xmlns:a16="http://schemas.microsoft.com/office/drawing/2014/main" val="3552994562"/>
                    </a:ext>
                  </a:extLst>
                </a:gridCol>
                <a:gridCol w="3477780">
                  <a:extLst>
                    <a:ext uri="{9D8B030D-6E8A-4147-A177-3AD203B41FA5}">
                      <a16:colId xmlns:a16="http://schemas.microsoft.com/office/drawing/2014/main" val="3550517456"/>
                    </a:ext>
                  </a:extLst>
                </a:gridCol>
                <a:gridCol w="729701">
                  <a:extLst>
                    <a:ext uri="{9D8B030D-6E8A-4147-A177-3AD203B41FA5}">
                      <a16:colId xmlns:a16="http://schemas.microsoft.com/office/drawing/2014/main" val="4287435751"/>
                    </a:ext>
                  </a:extLst>
                </a:gridCol>
                <a:gridCol w="6036414">
                  <a:extLst>
                    <a:ext uri="{9D8B030D-6E8A-4147-A177-3AD203B41FA5}">
                      <a16:colId xmlns:a16="http://schemas.microsoft.com/office/drawing/2014/main" val="3911556176"/>
                    </a:ext>
                  </a:extLst>
                </a:gridCol>
              </a:tblGrid>
              <a:tr h="355965">
                <a:tc>
                  <a:txBody>
                    <a:bodyPr/>
                    <a:lstStyle/>
                    <a:p>
                      <a:pPr algn="just"/>
                      <a:r>
                        <a:rPr lang="en-IN" dirty="0">
                          <a:solidFill>
                            <a:schemeClr val="tx1"/>
                          </a:solidFill>
                        </a:rPr>
                        <a:t>Sr.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dirty="0">
                          <a:solidFill>
                            <a:schemeClr val="tx1"/>
                          </a:solidFill>
                        </a:rPr>
                        <a:t>Paper 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dirty="0">
                          <a:solidFill>
                            <a:schemeClr val="tx1"/>
                          </a:solidFill>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935248512"/>
                  </a:ext>
                </a:extLst>
              </a:tr>
              <a:tr h="1631506">
                <a:tc>
                  <a:txBody>
                    <a:bodyPr/>
                    <a:lstStyle/>
                    <a:p>
                      <a:pPr algn="just"/>
                      <a:r>
                        <a:rPr lang="en-IN" dirty="0">
                          <a:solidFill>
                            <a:schemeClr val="tx1"/>
                          </a:solidFill>
                        </a:rPr>
                        <a:t>1.</a:t>
                      </a:r>
                      <a:r>
                        <a:rPr lang="en-US" sz="1800" b="1" dirty="0">
                          <a:solidFill>
                            <a:schemeClr val="tx1"/>
                          </a:solidFill>
                        </a:rPr>
                        <a:t>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spcBef>
                          <a:spcPts val="750"/>
                        </a:spcBef>
                        <a:spcAft>
                          <a:spcPts val="750"/>
                        </a:spcAft>
                      </a:pPr>
                      <a:r>
                        <a:rPr lang="en-US" altLang="en-US" sz="1800" b="1" kern="1200" dirty="0">
                          <a:solidFill>
                            <a:schemeClr val="tx1"/>
                          </a:solidFill>
                          <a:latin typeface="+mn-lt"/>
                          <a:ea typeface="+mn-ea"/>
                          <a:cs typeface="+mn-cs"/>
                        </a:rPr>
                        <a:t>Enhancing Job Recommendation Systems through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l">
                        <a:spcBef>
                          <a:spcPts val="750"/>
                        </a:spcBef>
                        <a:spcAft>
                          <a:spcPts val="750"/>
                        </a:spcAft>
                      </a:pPr>
                      <a:r>
                        <a:rPr lang="en-IN" sz="1600" b="0" i="0" kern="1200" dirty="0">
                          <a:solidFill>
                            <a:srgbClr val="2C3E50"/>
                          </a:solidFill>
                          <a:effectLst/>
                          <a:latin typeface="+mn-lt"/>
                          <a:ea typeface="+mn-ea"/>
                          <a:cs typeface="+mn-cs"/>
                        </a:rPr>
                        <a:t>• </a:t>
                      </a:r>
                      <a:r>
                        <a:rPr lang="en-US" altLang="en-US" sz="1600" b="0" i="0" kern="1200" dirty="0">
                          <a:solidFill>
                            <a:srgbClr val="2C3E50"/>
                          </a:solidFill>
                          <a:effectLst/>
                          <a:latin typeface="+mn-lt"/>
                          <a:ea typeface="+mn-ea"/>
                          <a:cs typeface="+mn-cs"/>
                        </a:rPr>
                        <a:t>Supports AI-driven recommendations for better placements.</a:t>
                      </a:r>
                    </a:p>
                    <a:p>
                      <a:pPr algn="l">
                        <a:spcBef>
                          <a:spcPts val="750"/>
                        </a:spcBef>
                        <a:spcAft>
                          <a:spcPts val="750"/>
                        </a:spcAft>
                      </a:pPr>
                      <a:r>
                        <a:rPr lang="en-IN" sz="1600" b="0" i="0" kern="1200" dirty="0">
                          <a:solidFill>
                            <a:srgbClr val="2C3E50"/>
                          </a:solidFill>
                          <a:effectLst/>
                          <a:latin typeface="+mn-lt"/>
                          <a:ea typeface="+mn-ea"/>
                          <a:cs typeface="+mn-cs"/>
                        </a:rPr>
                        <a:t>• </a:t>
                      </a:r>
                      <a:r>
                        <a:rPr lang="en-US" altLang="en-US" sz="1600" b="0" i="0" kern="1200" dirty="0">
                          <a:solidFill>
                            <a:srgbClr val="2C3E50"/>
                          </a:solidFill>
                          <a:effectLst/>
                          <a:latin typeface="+mn-lt"/>
                          <a:ea typeface="+mn-ea"/>
                          <a:cs typeface="+mn-cs"/>
                        </a:rPr>
                        <a:t>Helps refine job/internship suggestion algorithms.</a:t>
                      </a:r>
                    </a:p>
                    <a:p>
                      <a:pPr marL="0" marR="0" lvl="0" indent="0" algn="l" defTabSz="914400" rtl="0" eaLnBrk="1" fontAlgn="auto" latinLnBrk="0" hangingPunct="1">
                        <a:lnSpc>
                          <a:spcPct val="100000"/>
                        </a:lnSpc>
                        <a:spcBef>
                          <a:spcPts val="750"/>
                        </a:spcBef>
                        <a:spcAft>
                          <a:spcPts val="750"/>
                        </a:spcAft>
                        <a:buClrTx/>
                        <a:buSzTx/>
                        <a:buFontTx/>
                        <a:buNone/>
                        <a:tabLst/>
                        <a:defRPr/>
                      </a:pPr>
                      <a:r>
                        <a:rPr lang="en-IN" sz="1600" b="0" i="0" kern="1200" dirty="0">
                          <a:solidFill>
                            <a:srgbClr val="2C3E50"/>
                          </a:solidFill>
                          <a:effectLst/>
                          <a:latin typeface="+mn-lt"/>
                          <a:ea typeface="+mn-ea"/>
                          <a:cs typeface="+mn-cs"/>
                        </a:rPr>
                        <a:t>• </a:t>
                      </a:r>
                      <a:r>
                        <a:rPr lang="en-US" altLang="en-US" sz="1600" b="0" i="0" kern="1200" dirty="0">
                          <a:solidFill>
                            <a:srgbClr val="2C3E50"/>
                          </a:solidFill>
                          <a:effectLst/>
                          <a:latin typeface="+mn-lt"/>
                          <a:ea typeface="+mn-ea"/>
                          <a:cs typeface="+mn-cs"/>
                        </a:rPr>
                        <a:t>Guides CGPA &amp; skill-based matching.</a:t>
                      </a:r>
                    </a:p>
                    <a:p>
                      <a:pPr algn="l">
                        <a:spcBef>
                          <a:spcPts val="750"/>
                        </a:spcBef>
                        <a:spcAft>
                          <a:spcPts val="750"/>
                        </a:spcAft>
                      </a:pPr>
                      <a:endParaRPr lang="en-US" altLang="en-US" sz="1600" b="0" i="0" kern="1200" dirty="0">
                        <a:solidFill>
                          <a:srgbClr val="2C3E50"/>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4110195245"/>
                  </a:ext>
                </a:extLst>
              </a:tr>
              <a:tr h="1822528">
                <a:tc>
                  <a:txBody>
                    <a:bodyPr/>
                    <a:lstStyle/>
                    <a:p>
                      <a:pPr algn="just"/>
                      <a:r>
                        <a:rPr lang="en-IN"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US" altLang="en-US" sz="1800" b="1" kern="1200" dirty="0">
                          <a:solidFill>
                            <a:schemeClr val="tx1"/>
                          </a:solidFill>
                          <a:latin typeface="+mn-lt"/>
                          <a:ea typeface="+mn-ea"/>
                          <a:cs typeface="+mn-cs"/>
                        </a:rPr>
                        <a:t>Examining the Effectiveness of Gamification as a Tool Promoting Intrinsic and Extrinsic Motivation Among Higher Education Students: A Systematic Review</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US" sz="1800" dirty="0">
                          <a:solidFill>
                            <a:schemeClr val="tx1"/>
                          </a:solidFill>
                        </a:rPr>
                        <a:t>2</a:t>
                      </a:r>
                      <a:r>
                        <a:rPr lang="en-IN" sz="1800" dirty="0">
                          <a:solidFill>
                            <a:schemeClr val="tx1"/>
                          </a:solidFill>
                        </a:rPr>
                        <a:t>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nSpc>
                          <a:spcPct val="130000"/>
                        </a:lnSpc>
                        <a:spcBef>
                          <a:spcPts val="750"/>
                        </a:spcBef>
                        <a:spcAft>
                          <a:spcPts val="750"/>
                        </a:spcAft>
                      </a:pPr>
                      <a:r>
                        <a:rPr lang="en-IN" sz="1600" b="0" i="0" kern="1200" dirty="0">
                          <a:solidFill>
                            <a:srgbClr val="2C3E50"/>
                          </a:solidFill>
                          <a:effectLst/>
                          <a:latin typeface="+mn-lt"/>
                          <a:ea typeface="+mn-ea"/>
                          <a:cs typeface="+mn-cs"/>
                        </a:rPr>
                        <a:t>•</a:t>
                      </a:r>
                      <a:r>
                        <a:rPr lang="en-US" altLang="en-US" sz="1600" b="1" kern="1200" dirty="0">
                          <a:solidFill>
                            <a:srgbClr val="2C3E50"/>
                          </a:solidFill>
                          <a:latin typeface="+mn-lt"/>
                          <a:ea typeface="+mn-ea"/>
                          <a:cs typeface="+mn-cs"/>
                        </a:rPr>
                        <a:t>Validates leaderboard-driven motivation.</a:t>
                      </a:r>
                    </a:p>
                    <a:p>
                      <a:pPr>
                        <a:lnSpc>
                          <a:spcPct val="130000"/>
                        </a:lnSpc>
                        <a:spcBef>
                          <a:spcPts val="750"/>
                        </a:spcBef>
                        <a:spcAft>
                          <a:spcPts val="750"/>
                        </a:spcAft>
                      </a:pPr>
                      <a:r>
                        <a:rPr lang="en-IN" sz="1600" b="1" kern="1200" dirty="0">
                          <a:solidFill>
                            <a:srgbClr val="2C3E50"/>
                          </a:solidFill>
                          <a:latin typeface="+mn-lt"/>
                          <a:ea typeface="+mn-ea"/>
                          <a:cs typeface="+mn-cs"/>
                        </a:rPr>
                        <a:t>• </a:t>
                      </a:r>
                      <a:r>
                        <a:rPr lang="en-US" altLang="en-US" sz="1600" b="1" kern="1200" dirty="0">
                          <a:solidFill>
                            <a:srgbClr val="2C3E50"/>
                          </a:solidFill>
                          <a:latin typeface="+mn-lt"/>
                          <a:ea typeface="+mn-ea"/>
                          <a:cs typeface="+mn-cs"/>
                        </a:rPr>
                        <a:t>Encourages skill improvement through competition</a:t>
                      </a:r>
                    </a:p>
                    <a:p>
                      <a:pPr>
                        <a:lnSpc>
                          <a:spcPct val="130000"/>
                        </a:lnSpc>
                        <a:spcBef>
                          <a:spcPts val="750"/>
                        </a:spcBef>
                        <a:spcAft>
                          <a:spcPts val="750"/>
                        </a:spcAft>
                      </a:pPr>
                      <a:r>
                        <a:rPr lang="en-IN" sz="1600" b="1" kern="1200" dirty="0">
                          <a:solidFill>
                            <a:srgbClr val="2C3E50"/>
                          </a:solidFill>
                          <a:latin typeface="+mn-lt"/>
                          <a:ea typeface="+mn-ea"/>
                          <a:cs typeface="+mn-cs"/>
                        </a:rPr>
                        <a:t>• </a:t>
                      </a:r>
                      <a:r>
                        <a:rPr lang="en-US" altLang="en-US" sz="1600" b="1" kern="1200" dirty="0">
                          <a:solidFill>
                            <a:srgbClr val="2C3E50"/>
                          </a:solidFill>
                          <a:latin typeface="+mn-lt"/>
                          <a:ea typeface="+mn-ea"/>
                          <a:cs typeface="+mn-cs"/>
                        </a:rPr>
                        <a:t>Supports long-term engagement strategies.</a:t>
                      </a:r>
                      <a:endParaRPr lang="en-IN" sz="1600" b="1" kern="1200" dirty="0">
                        <a:solidFill>
                          <a:srgbClr val="2C3E50"/>
                        </a:solidFill>
                        <a:latin typeface="+mn-lt"/>
                        <a:ea typeface="+mn-ea"/>
                        <a:cs typeface="+mn-cs"/>
                      </a:endParaRPr>
                    </a:p>
                    <a:p>
                      <a:pPr algn="l">
                        <a:lnSpc>
                          <a:spcPct val="150000"/>
                        </a:lnSpc>
                        <a:spcBef>
                          <a:spcPts val="750"/>
                        </a:spcBef>
                        <a:spcAft>
                          <a:spcPts val="750"/>
                        </a:spcAft>
                      </a:pPr>
                      <a:endParaRPr lang="en-IN" sz="11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21150505"/>
                  </a:ext>
                </a:extLst>
              </a:tr>
            </a:tbl>
          </a:graphicData>
        </a:graphic>
      </p:graphicFrame>
    </p:spTree>
    <p:extLst>
      <p:ext uri="{BB962C8B-B14F-4D97-AF65-F5344CB8AC3E}">
        <p14:creationId xmlns:p14="http://schemas.microsoft.com/office/powerpoint/2010/main" val="1047601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84AEC-20F4-8603-D44D-2D6F06D98AAD}"/>
              </a:ext>
            </a:extLst>
          </p:cNvPr>
          <p:cNvSpPr>
            <a:spLocks noGrp="1"/>
          </p:cNvSpPr>
          <p:nvPr>
            <p:ph type="title"/>
          </p:nvPr>
        </p:nvSpPr>
        <p:spPr>
          <a:xfrm>
            <a:off x="876299" y="1205344"/>
            <a:ext cx="4090556" cy="548381"/>
          </a:xfrm>
        </p:spPr>
        <p:txBody>
          <a:bodyPr>
            <a:normAutofit fontScale="90000"/>
          </a:bodyPr>
          <a:lstStyle/>
          <a:p>
            <a:r>
              <a:rPr lang="en-US" dirty="0"/>
              <a:t>Literature survey</a:t>
            </a:r>
            <a:endParaRPr lang="en-IN" dirty="0"/>
          </a:p>
        </p:txBody>
      </p:sp>
      <p:sp>
        <p:nvSpPr>
          <p:cNvPr id="4" name="Date Placeholder 3">
            <a:extLst>
              <a:ext uri="{FF2B5EF4-FFF2-40B4-BE49-F238E27FC236}">
                <a16:creationId xmlns:a16="http://schemas.microsoft.com/office/drawing/2014/main" id="{E5BC3C91-052F-0ACD-67DF-09829DA7B323}"/>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BE1E694D-214D-5A2A-F6FE-1D968BF55086}"/>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BDD7A164-7C70-F1FA-2155-3780A4C811FB}"/>
              </a:ext>
            </a:extLst>
          </p:cNvPr>
          <p:cNvSpPr>
            <a:spLocks noGrp="1"/>
          </p:cNvSpPr>
          <p:nvPr>
            <p:ph type="sldNum" sz="quarter" idx="12"/>
          </p:nvPr>
        </p:nvSpPr>
        <p:spPr/>
        <p:txBody>
          <a:bodyPr/>
          <a:lstStyle/>
          <a:p>
            <a:fld id="{B5CEABB6-07DC-46E8-9B57-56EC44A396E5}" type="slidenum">
              <a:rPr lang="en-US" smtClean="0"/>
              <a:t>6</a:t>
            </a:fld>
            <a:endParaRPr lang="en-US" dirty="0"/>
          </a:p>
        </p:txBody>
      </p:sp>
      <p:graphicFrame>
        <p:nvGraphicFramePr>
          <p:cNvPr id="7" name="Table 6">
            <a:extLst>
              <a:ext uri="{FF2B5EF4-FFF2-40B4-BE49-F238E27FC236}">
                <a16:creationId xmlns:a16="http://schemas.microsoft.com/office/drawing/2014/main" id="{1B3809F6-5EE3-C378-1D5B-3F24E206A153}"/>
              </a:ext>
            </a:extLst>
          </p:cNvPr>
          <p:cNvGraphicFramePr>
            <a:graphicFrameLocks noGrp="1"/>
          </p:cNvGraphicFramePr>
          <p:nvPr>
            <p:extLst>
              <p:ext uri="{D42A27DB-BD31-4B8C-83A1-F6EECF244321}">
                <p14:modId xmlns:p14="http://schemas.microsoft.com/office/powerpoint/2010/main" val="1062461696"/>
              </p:ext>
            </p:extLst>
          </p:nvPr>
        </p:nvGraphicFramePr>
        <p:xfrm>
          <a:off x="381000" y="2241262"/>
          <a:ext cx="11613158" cy="1410773"/>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l"/>
                      <a:r>
                        <a:rPr lang="en-US" altLang="en-US" sz="2000" b="1" kern="1200" dirty="0">
                          <a:solidFill>
                            <a:schemeClr val="tx1"/>
                          </a:solidFill>
                          <a:latin typeface="+mn-lt"/>
                          <a:ea typeface="+mn-ea"/>
                          <a:cs typeface="+mn-cs"/>
                        </a:rPr>
                        <a:t>The Use of </a:t>
                      </a:r>
                      <a:r>
                        <a:rPr lang="en-US" altLang="en-US" sz="1800" b="1" kern="1200" dirty="0">
                          <a:solidFill>
                            <a:schemeClr val="tx1"/>
                          </a:solidFill>
                          <a:latin typeface="+mn-lt"/>
                          <a:ea typeface="+mn-ea"/>
                          <a:cs typeface="+mn-cs"/>
                        </a:rPr>
                        <a:t>Leaderboards in Education: A Systematic Review of Empirical Evidence in Higher Education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spcBef>
                          <a:spcPts val="750"/>
                        </a:spcBef>
                        <a:spcAft>
                          <a:spcPts val="750"/>
                        </a:spcAft>
                      </a:pPr>
                      <a:r>
                        <a:rPr lang="en-IN" sz="2400" b="0" i="0" kern="1200" dirty="0">
                          <a:solidFill>
                            <a:srgbClr val="2C3E50"/>
                          </a:solidFill>
                          <a:effectLst/>
                          <a:latin typeface="+mn-lt"/>
                          <a:ea typeface="+mn-ea"/>
                          <a:cs typeface="+mn-cs"/>
                        </a:rPr>
                        <a:t>•</a:t>
                      </a:r>
                      <a:r>
                        <a:rPr lang="en-US" altLang="en-US" sz="1600" kern="1200" dirty="0">
                          <a:solidFill>
                            <a:srgbClr val="2C3E50"/>
                          </a:solidFill>
                          <a:latin typeface="+mn-lt"/>
                          <a:ea typeface="+mn-ea"/>
                          <a:cs typeface="+mn-cs"/>
                        </a:rPr>
                        <a:t> Justifies the competitive ranking system.</a:t>
                      </a:r>
                      <a:endParaRPr lang="en-IN" altLang="en-US" sz="1600" kern="1200" dirty="0">
                        <a:solidFill>
                          <a:srgbClr val="2C3E50"/>
                        </a:solidFill>
                        <a:latin typeface="+mn-lt"/>
                        <a:ea typeface="+mn-ea"/>
                        <a:cs typeface="+mn-cs"/>
                      </a:endParaRPr>
                    </a:p>
                    <a:p>
                      <a:pPr>
                        <a:spcBef>
                          <a:spcPts val="750"/>
                        </a:spcBef>
                        <a:spcAft>
                          <a:spcPts val="750"/>
                        </a:spcAft>
                      </a:pPr>
                      <a:r>
                        <a:rPr lang="en-IN" sz="1600" kern="1200" dirty="0">
                          <a:solidFill>
                            <a:srgbClr val="2C3E50"/>
                          </a:solidFill>
                          <a:latin typeface="+mn-lt"/>
                          <a:ea typeface="+mn-ea"/>
                          <a:cs typeface="+mn-cs"/>
                        </a:rPr>
                        <a:t>• </a:t>
                      </a:r>
                      <a:r>
                        <a:rPr lang="en-US" altLang="en-US" sz="1600" kern="1200" dirty="0">
                          <a:solidFill>
                            <a:srgbClr val="2C3E50"/>
                          </a:solidFill>
                          <a:latin typeface="+mn-lt"/>
                          <a:ea typeface="+mn-ea"/>
                          <a:cs typeface="+mn-cs"/>
                        </a:rPr>
                        <a:t>Provides a framework for gamification features.</a:t>
                      </a:r>
                    </a:p>
                    <a:p>
                      <a:pPr>
                        <a:spcBef>
                          <a:spcPts val="750"/>
                        </a:spcBef>
                        <a:spcAft>
                          <a:spcPts val="750"/>
                        </a:spcAft>
                      </a:pPr>
                      <a:r>
                        <a:rPr lang="en-IN" sz="1600" kern="1200" dirty="0">
                          <a:solidFill>
                            <a:srgbClr val="2C3E50"/>
                          </a:solidFill>
                          <a:latin typeface="+mn-lt"/>
                          <a:ea typeface="+mn-ea"/>
                          <a:cs typeface="+mn-cs"/>
                        </a:rPr>
                        <a:t>• </a:t>
                      </a:r>
                      <a:r>
                        <a:rPr lang="en-US" altLang="en-US" sz="1600" kern="1200" dirty="0">
                          <a:solidFill>
                            <a:srgbClr val="2C3E50"/>
                          </a:solidFill>
                          <a:latin typeface="+mn-lt"/>
                          <a:ea typeface="+mn-ea"/>
                          <a:cs typeface="+mn-cs"/>
                        </a:rPr>
                        <a:t>Defines success metrics for engagement</a:t>
                      </a:r>
                      <a:r>
                        <a:rPr lang="en-US" altLang="en-US" sz="1600" b="0" i="0" kern="1200" dirty="0">
                          <a:solidFill>
                            <a:srgbClr val="2C3E50"/>
                          </a:solidFill>
                          <a:effectLst/>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graphicFrame>
        <p:nvGraphicFramePr>
          <p:cNvPr id="8" name="Table 7">
            <a:extLst>
              <a:ext uri="{FF2B5EF4-FFF2-40B4-BE49-F238E27FC236}">
                <a16:creationId xmlns:a16="http://schemas.microsoft.com/office/drawing/2014/main" id="{FEBAF8CE-D8A5-F2B2-4DD8-06CC7BEC4EB9}"/>
              </a:ext>
            </a:extLst>
          </p:cNvPr>
          <p:cNvGraphicFramePr>
            <a:graphicFrameLocks noGrp="1"/>
          </p:cNvGraphicFramePr>
          <p:nvPr>
            <p:extLst>
              <p:ext uri="{D42A27DB-BD31-4B8C-83A1-F6EECF244321}">
                <p14:modId xmlns:p14="http://schemas.microsoft.com/office/powerpoint/2010/main" val="3709960953"/>
              </p:ext>
            </p:extLst>
          </p:nvPr>
        </p:nvGraphicFramePr>
        <p:xfrm>
          <a:off x="381000" y="3593418"/>
          <a:ext cx="11613158" cy="1920240"/>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l"/>
                      <a:r>
                        <a:rPr lang="en-US" altLang="en-US" sz="2000" b="1" kern="1200" dirty="0">
                          <a:solidFill>
                            <a:schemeClr val="tx1"/>
                          </a:solidFill>
                          <a:latin typeface="+mn-lt"/>
                          <a:ea typeface="+mn-ea"/>
                          <a:cs typeface="+mn-cs"/>
                        </a:rPr>
                        <a:t>Using Internship Management System to Improve the Relationship between Internship Seekers, Employers, and Educational Institutions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nSpc>
                          <a:spcPct val="130000"/>
                        </a:lnSpc>
                        <a:spcBef>
                          <a:spcPts val="750"/>
                        </a:spcBef>
                        <a:spcAft>
                          <a:spcPts val="750"/>
                        </a:spcAft>
                      </a:pPr>
                      <a:r>
                        <a:rPr lang="en-IN" sz="1600" b="0" i="0" kern="1200" dirty="0">
                          <a:solidFill>
                            <a:srgbClr val="2C3E50"/>
                          </a:solidFill>
                          <a:effectLst/>
                          <a:latin typeface="+mn-lt"/>
                          <a:ea typeface="+mn-ea"/>
                          <a:cs typeface="+mn-cs"/>
                        </a:rPr>
                        <a:t> </a:t>
                      </a:r>
                      <a:r>
                        <a:rPr lang="en-US" sz="1800" b="0" i="0" kern="1200" dirty="0">
                          <a:solidFill>
                            <a:srgbClr val="2C3E50"/>
                          </a:solidFill>
                          <a:effectLst/>
                          <a:latin typeface="+mn-lt"/>
                          <a:ea typeface="+mn-ea"/>
                          <a:cs typeface="+mn-cs"/>
                        </a:rPr>
                        <a:t>• Supports real-time company listings.</a:t>
                      </a:r>
                    </a:p>
                    <a:p>
                      <a:pPr>
                        <a:lnSpc>
                          <a:spcPct val="130000"/>
                        </a:lnSpc>
                        <a:spcBef>
                          <a:spcPts val="750"/>
                        </a:spcBef>
                        <a:spcAft>
                          <a:spcPts val="750"/>
                        </a:spcAft>
                      </a:pPr>
                      <a:r>
                        <a:rPr lang="en-US" sz="1800" b="0" i="0" kern="1200" dirty="0">
                          <a:solidFill>
                            <a:srgbClr val="2C3E50"/>
                          </a:solidFill>
                          <a:effectLst/>
                          <a:latin typeface="+mn-lt"/>
                          <a:ea typeface="+mn-ea"/>
                          <a:cs typeface="+mn-cs"/>
                        </a:rPr>
                        <a:t>• Enhances employer-student interaction.</a:t>
                      </a:r>
                    </a:p>
                    <a:p>
                      <a:pPr>
                        <a:lnSpc>
                          <a:spcPct val="130000"/>
                        </a:lnSpc>
                        <a:spcBef>
                          <a:spcPts val="750"/>
                        </a:spcBef>
                        <a:spcAft>
                          <a:spcPts val="750"/>
                        </a:spcAft>
                      </a:pPr>
                      <a:r>
                        <a:rPr lang="en-US" sz="1800" b="0" i="0" kern="1200" dirty="0">
                          <a:solidFill>
                            <a:srgbClr val="2C3E50"/>
                          </a:solidFill>
                          <a:effectLst/>
                          <a:latin typeface="+mn-lt"/>
                          <a:ea typeface="+mn-ea"/>
                          <a:cs typeface="+mn-cs"/>
                        </a:rPr>
                        <a:t>• Inspired tracking &amp; application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spTree>
    <p:extLst>
      <p:ext uri="{BB962C8B-B14F-4D97-AF65-F5344CB8AC3E}">
        <p14:creationId xmlns:p14="http://schemas.microsoft.com/office/powerpoint/2010/main" val="3365894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FD86-316F-C034-DF67-023E036D9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E343E-1FE0-849E-0D69-0E31FEA1B490}"/>
              </a:ext>
            </a:extLst>
          </p:cNvPr>
          <p:cNvSpPr>
            <a:spLocks noGrp="1"/>
          </p:cNvSpPr>
          <p:nvPr>
            <p:ph type="title"/>
          </p:nvPr>
        </p:nvSpPr>
        <p:spPr>
          <a:xfrm>
            <a:off x="876299" y="1205344"/>
            <a:ext cx="4090556" cy="548381"/>
          </a:xfrm>
        </p:spPr>
        <p:txBody>
          <a:bodyPr>
            <a:normAutofit fontScale="90000"/>
          </a:bodyPr>
          <a:lstStyle/>
          <a:p>
            <a:r>
              <a:rPr lang="en-US" dirty="0"/>
              <a:t>Literature survey</a:t>
            </a:r>
            <a:endParaRPr lang="en-IN" dirty="0"/>
          </a:p>
        </p:txBody>
      </p:sp>
      <p:sp>
        <p:nvSpPr>
          <p:cNvPr id="4" name="Date Placeholder 3">
            <a:extLst>
              <a:ext uri="{FF2B5EF4-FFF2-40B4-BE49-F238E27FC236}">
                <a16:creationId xmlns:a16="http://schemas.microsoft.com/office/drawing/2014/main" id="{2D7AE37B-FE32-3752-ECA6-E5A5A0E598F5}"/>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E4DED041-B053-5F73-491B-58B416EB9BA7}"/>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C51E00F1-EE38-F975-009B-D701330E739E}"/>
              </a:ext>
            </a:extLst>
          </p:cNvPr>
          <p:cNvSpPr>
            <a:spLocks noGrp="1"/>
          </p:cNvSpPr>
          <p:nvPr>
            <p:ph type="sldNum" sz="quarter" idx="12"/>
          </p:nvPr>
        </p:nvSpPr>
        <p:spPr/>
        <p:txBody>
          <a:bodyPr/>
          <a:lstStyle/>
          <a:p>
            <a:fld id="{B5CEABB6-07DC-46E8-9B57-56EC44A396E5}" type="slidenum">
              <a:rPr lang="en-US" smtClean="0"/>
              <a:t>7</a:t>
            </a:fld>
            <a:endParaRPr lang="en-US" dirty="0"/>
          </a:p>
        </p:txBody>
      </p:sp>
      <p:graphicFrame>
        <p:nvGraphicFramePr>
          <p:cNvPr id="7" name="Table 6">
            <a:extLst>
              <a:ext uri="{FF2B5EF4-FFF2-40B4-BE49-F238E27FC236}">
                <a16:creationId xmlns:a16="http://schemas.microsoft.com/office/drawing/2014/main" id="{D296F1E9-4EA6-9F20-A01A-0933E4A3AFBD}"/>
              </a:ext>
            </a:extLst>
          </p:cNvPr>
          <p:cNvGraphicFramePr>
            <a:graphicFrameLocks noGrp="1"/>
          </p:cNvGraphicFramePr>
          <p:nvPr>
            <p:extLst>
              <p:ext uri="{D42A27DB-BD31-4B8C-83A1-F6EECF244321}">
                <p14:modId xmlns:p14="http://schemas.microsoft.com/office/powerpoint/2010/main" val="552915055"/>
              </p:ext>
            </p:extLst>
          </p:nvPr>
        </p:nvGraphicFramePr>
        <p:xfrm>
          <a:off x="381000" y="2241262"/>
          <a:ext cx="11613158" cy="1410773"/>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l"/>
                      <a:r>
                        <a:rPr lang="en-US" dirty="0">
                          <a:solidFill>
                            <a:schemeClr val="tx1"/>
                          </a:solidFill>
                        </a:rPr>
                        <a:t>A Survey on Student Performance Evaluation Metrics</a:t>
                      </a:r>
                    </a:p>
                    <a:p>
                      <a:pPr algn="just"/>
                      <a:r>
                        <a:rPr lang="en-US" dirty="0">
                          <a:solidFill>
                            <a:schemeClr val="tx1"/>
                          </a:solidFill>
                        </a:rPr>
                        <a:t>Authors: Dr. John Smith, Dr. Emily Johnson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spcBef>
                          <a:spcPts val="750"/>
                        </a:spcBef>
                        <a:spcAft>
                          <a:spcPts val="750"/>
                        </a:spcAft>
                      </a:pPr>
                      <a:r>
                        <a:rPr lang="en-US" altLang="en-US" sz="1600" b="0" i="0" kern="1200" dirty="0">
                          <a:solidFill>
                            <a:srgbClr val="2C3E50"/>
                          </a:solidFill>
                          <a:effectLst/>
                          <a:latin typeface="+mn-lt"/>
                          <a:ea typeface="+mn-ea"/>
                          <a:cs typeface="+mn-cs"/>
                        </a:rPr>
                        <a:t>This survey reviews various metrics used to evaluate student performance, highlighting the limitations of traditional methods like GPA. It emphasizes the need for incorporating diverse assessment tools to capture a comprehensive view of student capabilities.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graphicFrame>
        <p:nvGraphicFramePr>
          <p:cNvPr id="8" name="Table 7">
            <a:extLst>
              <a:ext uri="{FF2B5EF4-FFF2-40B4-BE49-F238E27FC236}">
                <a16:creationId xmlns:a16="http://schemas.microsoft.com/office/drawing/2014/main" id="{93360EB1-6284-A06C-3567-69CAC6E6B699}"/>
              </a:ext>
            </a:extLst>
          </p:cNvPr>
          <p:cNvGraphicFramePr>
            <a:graphicFrameLocks noGrp="1"/>
          </p:cNvGraphicFramePr>
          <p:nvPr>
            <p:extLst>
              <p:ext uri="{D42A27DB-BD31-4B8C-83A1-F6EECF244321}">
                <p14:modId xmlns:p14="http://schemas.microsoft.com/office/powerpoint/2010/main" val="2390060709"/>
              </p:ext>
            </p:extLst>
          </p:nvPr>
        </p:nvGraphicFramePr>
        <p:xfrm>
          <a:off x="381000" y="3593418"/>
          <a:ext cx="11613158" cy="1837881"/>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US" altLang="en-US" sz="2000" b="1" kern="1200" dirty="0">
                          <a:solidFill>
                            <a:schemeClr val="tx1"/>
                          </a:solidFill>
                          <a:latin typeface="+mn-lt"/>
                          <a:ea typeface="+mn-ea"/>
                          <a:cs typeface="+mn-cs"/>
                        </a:rPr>
                        <a:t>A Multi-Criteria Assessment Framework for Academic Ranking</a:t>
                      </a:r>
                    </a:p>
                    <a:p>
                      <a:pPr algn="just"/>
                      <a:r>
                        <a:rPr lang="en-US" altLang="en-US" sz="2000" b="1" kern="1200" dirty="0">
                          <a:solidFill>
                            <a:schemeClr val="tx1"/>
                          </a:solidFill>
                          <a:latin typeface="+mn-lt"/>
                          <a:ea typeface="+mn-ea"/>
                          <a:cs typeface="+mn-cs"/>
                        </a:rPr>
                        <a:t>Authors: Dr. Maria Gonzalez, Dr. Li Wei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nSpc>
                          <a:spcPct val="130000"/>
                        </a:lnSpc>
                        <a:spcBef>
                          <a:spcPts val="750"/>
                        </a:spcBef>
                        <a:spcAft>
                          <a:spcPts val="750"/>
                        </a:spcAft>
                      </a:pPr>
                      <a:r>
                        <a:rPr lang="en-US" sz="1800" b="0" i="0" kern="1200" dirty="0">
                          <a:solidFill>
                            <a:srgbClr val="2C3E50"/>
                          </a:solidFill>
                          <a:effectLst/>
                          <a:latin typeface="+mn-lt"/>
                          <a:ea typeface="+mn-ea"/>
                          <a:cs typeface="+mn-cs"/>
                        </a:rPr>
                        <a:t>The paper proposes a framework that utilizes multiple criteria, including academic achievements and extracurricular activities, for ranking students. It demonstrates how a holistic approach can provide a more accurate assessment of student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spTree>
    <p:extLst>
      <p:ext uri="{BB962C8B-B14F-4D97-AF65-F5344CB8AC3E}">
        <p14:creationId xmlns:p14="http://schemas.microsoft.com/office/powerpoint/2010/main" val="36782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15183-BC4E-B025-CBD9-CDD488815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179E2-109D-776C-4947-1F9F0E3E0DA8}"/>
              </a:ext>
            </a:extLst>
          </p:cNvPr>
          <p:cNvSpPr>
            <a:spLocks noGrp="1"/>
          </p:cNvSpPr>
          <p:nvPr>
            <p:ph type="title"/>
          </p:nvPr>
        </p:nvSpPr>
        <p:spPr>
          <a:xfrm>
            <a:off x="876299" y="1205344"/>
            <a:ext cx="4090556" cy="548381"/>
          </a:xfrm>
        </p:spPr>
        <p:txBody>
          <a:bodyPr>
            <a:normAutofit fontScale="90000"/>
          </a:bodyPr>
          <a:lstStyle/>
          <a:p>
            <a:r>
              <a:rPr lang="en-US" dirty="0"/>
              <a:t>Literature survey</a:t>
            </a:r>
            <a:endParaRPr lang="en-IN" dirty="0"/>
          </a:p>
        </p:txBody>
      </p:sp>
      <p:sp>
        <p:nvSpPr>
          <p:cNvPr id="4" name="Date Placeholder 3">
            <a:extLst>
              <a:ext uri="{FF2B5EF4-FFF2-40B4-BE49-F238E27FC236}">
                <a16:creationId xmlns:a16="http://schemas.microsoft.com/office/drawing/2014/main" id="{CBDA002A-71A6-C345-315E-A6C20B0FFB35}"/>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A6BA31C7-9325-5C81-0A14-A07D95250C1C}"/>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82511074-DF9D-409F-C202-C54204574287}"/>
              </a:ext>
            </a:extLst>
          </p:cNvPr>
          <p:cNvSpPr>
            <a:spLocks noGrp="1"/>
          </p:cNvSpPr>
          <p:nvPr>
            <p:ph type="sldNum" sz="quarter" idx="12"/>
          </p:nvPr>
        </p:nvSpPr>
        <p:spPr/>
        <p:txBody>
          <a:bodyPr/>
          <a:lstStyle/>
          <a:p>
            <a:fld id="{B5CEABB6-07DC-46E8-9B57-56EC44A396E5}" type="slidenum">
              <a:rPr lang="en-US" smtClean="0"/>
              <a:t>8</a:t>
            </a:fld>
            <a:endParaRPr lang="en-US" dirty="0"/>
          </a:p>
        </p:txBody>
      </p:sp>
      <p:graphicFrame>
        <p:nvGraphicFramePr>
          <p:cNvPr id="7" name="Table 6">
            <a:extLst>
              <a:ext uri="{FF2B5EF4-FFF2-40B4-BE49-F238E27FC236}">
                <a16:creationId xmlns:a16="http://schemas.microsoft.com/office/drawing/2014/main" id="{5361588D-EEC5-3D76-423D-F8AA1B981761}"/>
              </a:ext>
            </a:extLst>
          </p:cNvPr>
          <p:cNvGraphicFramePr>
            <a:graphicFrameLocks noGrp="1"/>
          </p:cNvGraphicFramePr>
          <p:nvPr>
            <p:extLst>
              <p:ext uri="{D42A27DB-BD31-4B8C-83A1-F6EECF244321}">
                <p14:modId xmlns:p14="http://schemas.microsoft.com/office/powerpoint/2010/main" val="1439998735"/>
              </p:ext>
            </p:extLst>
          </p:nvPr>
        </p:nvGraphicFramePr>
        <p:xfrm>
          <a:off x="381000" y="2182645"/>
          <a:ext cx="11613158" cy="1463040"/>
        </p:xfrm>
        <a:graphic>
          <a:graphicData uri="http://schemas.openxmlformats.org/drawingml/2006/table">
            <a:tbl>
              <a:tblPr firstRow="1" bandRow="1">
                <a:tableStyleId>{21E4AEA4-8DFA-4A89-87EB-49C32662AFE0}</a:tableStyleId>
              </a:tblPr>
              <a:tblGrid>
                <a:gridCol w="775726">
                  <a:extLst>
                    <a:ext uri="{9D8B030D-6E8A-4147-A177-3AD203B41FA5}">
                      <a16:colId xmlns:a16="http://schemas.microsoft.com/office/drawing/2014/main" val="3558814845"/>
                    </a:ext>
                  </a:extLst>
                </a:gridCol>
                <a:gridCol w="3679284">
                  <a:extLst>
                    <a:ext uri="{9D8B030D-6E8A-4147-A177-3AD203B41FA5}">
                      <a16:colId xmlns:a16="http://schemas.microsoft.com/office/drawing/2014/main" val="2252223558"/>
                    </a:ext>
                  </a:extLst>
                </a:gridCol>
                <a:gridCol w="771981">
                  <a:extLst>
                    <a:ext uri="{9D8B030D-6E8A-4147-A177-3AD203B41FA5}">
                      <a16:colId xmlns:a16="http://schemas.microsoft.com/office/drawing/2014/main" val="1833118224"/>
                    </a:ext>
                  </a:extLst>
                </a:gridCol>
                <a:gridCol w="6386167">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lvl="0" algn="l"/>
                      <a:r>
                        <a:rPr lang="en-US" dirty="0">
                          <a:solidFill>
                            <a:schemeClr val="tx1"/>
                          </a:solidFill>
                        </a:rPr>
                        <a:t>Role of Open-Source Contributions in Modern Recruitment</a:t>
                      </a:r>
                    </a:p>
                    <a:p>
                      <a:pPr algn="just"/>
                      <a:r>
                        <a:rPr lang="en-US" dirty="0">
                          <a:solidFill>
                            <a:schemeClr val="tx1"/>
                          </a:solidFill>
                        </a:rPr>
                        <a:t>Authors: Dr. Ahmed Khan, Dr. Laura Chen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spcBef>
                          <a:spcPts val="750"/>
                        </a:spcBef>
                        <a:spcAft>
                          <a:spcPts val="750"/>
                        </a:spcAft>
                      </a:pPr>
                      <a:r>
                        <a:rPr lang="en-US" altLang="en-US" sz="1600" b="0" i="0" kern="1200" dirty="0">
                          <a:solidFill>
                            <a:srgbClr val="2C3E50"/>
                          </a:solidFill>
                          <a:effectLst/>
                          <a:latin typeface="+mn-lt"/>
                          <a:ea typeface="+mn-ea"/>
                          <a:cs typeface="+mn-cs"/>
                        </a:rPr>
                        <a:t>This study explores how open-source contributions are increasingly valued in the recruitment process. It analyzes the impact of such contributions on hiring decisions, suggesting that they serve as indicators of practical skills and community engagement.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graphicFrame>
        <p:nvGraphicFramePr>
          <p:cNvPr id="8" name="Table 7">
            <a:extLst>
              <a:ext uri="{FF2B5EF4-FFF2-40B4-BE49-F238E27FC236}">
                <a16:creationId xmlns:a16="http://schemas.microsoft.com/office/drawing/2014/main" id="{0752CDE4-BCB9-7428-1E1F-F1FE7A6531FA}"/>
              </a:ext>
            </a:extLst>
          </p:cNvPr>
          <p:cNvGraphicFramePr>
            <a:graphicFrameLocks noGrp="1"/>
          </p:cNvGraphicFramePr>
          <p:nvPr>
            <p:extLst>
              <p:ext uri="{D42A27DB-BD31-4B8C-83A1-F6EECF244321}">
                <p14:modId xmlns:p14="http://schemas.microsoft.com/office/powerpoint/2010/main" val="4095210624"/>
              </p:ext>
            </p:extLst>
          </p:nvPr>
        </p:nvGraphicFramePr>
        <p:xfrm>
          <a:off x="381000" y="3609966"/>
          <a:ext cx="11613158" cy="1481265"/>
        </p:xfrm>
        <a:graphic>
          <a:graphicData uri="http://schemas.openxmlformats.org/drawingml/2006/table">
            <a:tbl>
              <a:tblPr firstRow="1" bandRow="1">
                <a:tableStyleId>{21E4AEA4-8DFA-4A89-87EB-49C32662AFE0}</a:tableStyleId>
              </a:tblPr>
              <a:tblGrid>
                <a:gridCol w="762000">
                  <a:extLst>
                    <a:ext uri="{9D8B030D-6E8A-4147-A177-3AD203B41FA5}">
                      <a16:colId xmlns:a16="http://schemas.microsoft.com/office/drawing/2014/main" val="3558814845"/>
                    </a:ext>
                  </a:extLst>
                </a:gridCol>
                <a:gridCol w="3657600">
                  <a:extLst>
                    <a:ext uri="{9D8B030D-6E8A-4147-A177-3AD203B41FA5}">
                      <a16:colId xmlns:a16="http://schemas.microsoft.com/office/drawing/2014/main" val="2252223558"/>
                    </a:ext>
                  </a:extLst>
                </a:gridCol>
                <a:gridCol w="838200">
                  <a:extLst>
                    <a:ext uri="{9D8B030D-6E8A-4147-A177-3AD203B41FA5}">
                      <a16:colId xmlns:a16="http://schemas.microsoft.com/office/drawing/2014/main" val="1833118224"/>
                    </a:ext>
                  </a:extLst>
                </a:gridCol>
                <a:gridCol w="6355358">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l"/>
                      <a:r>
                        <a:rPr lang="en-US" altLang="en-US" sz="2000" b="1" kern="1200" dirty="0">
                          <a:solidFill>
                            <a:schemeClr val="tx1"/>
                          </a:solidFill>
                          <a:latin typeface="+mn-lt"/>
                          <a:ea typeface="+mn-ea"/>
                          <a:cs typeface="+mn-cs"/>
                        </a:rPr>
                        <a:t>Data-Driven Assessment Models</a:t>
                      </a:r>
                    </a:p>
                    <a:p>
                      <a:pPr algn="just"/>
                      <a:r>
                        <a:rPr lang="en-US" altLang="en-US" sz="2000" b="1" kern="1200" dirty="0">
                          <a:solidFill>
                            <a:schemeClr val="tx1"/>
                          </a:solidFill>
                          <a:latin typeface="+mn-lt"/>
                          <a:ea typeface="+mn-ea"/>
                          <a:cs typeface="+mn-cs"/>
                        </a:rPr>
                        <a:t>Authors: Dr. Robert Lee, Dr. Priya Patel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nSpc>
                          <a:spcPct val="130000"/>
                        </a:lnSpc>
                        <a:spcBef>
                          <a:spcPts val="750"/>
                        </a:spcBef>
                        <a:spcAft>
                          <a:spcPts val="750"/>
                        </a:spcAft>
                      </a:pPr>
                      <a:r>
                        <a:rPr lang="en-US" sz="1800" b="0" i="0" kern="1200" dirty="0">
                          <a:solidFill>
                            <a:srgbClr val="2C3E50"/>
                          </a:solidFill>
                          <a:effectLst/>
                          <a:latin typeface="+mn-lt"/>
                          <a:ea typeface="+mn-ea"/>
                          <a:cs typeface="+mn-cs"/>
                        </a:rPr>
                        <a:t>The paper discusses the development of assessment models that leverage data analytics to evaluate student performance. It emphasizes the importance of real-time data in creating adaptive learning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spTree>
    <p:extLst>
      <p:ext uri="{BB962C8B-B14F-4D97-AF65-F5344CB8AC3E}">
        <p14:creationId xmlns:p14="http://schemas.microsoft.com/office/powerpoint/2010/main" val="285862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3319-3D47-1214-E1E6-C22C1402D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8A39C-28CA-F683-746B-369B98A11F0C}"/>
              </a:ext>
            </a:extLst>
          </p:cNvPr>
          <p:cNvSpPr>
            <a:spLocks noGrp="1"/>
          </p:cNvSpPr>
          <p:nvPr>
            <p:ph type="title"/>
          </p:nvPr>
        </p:nvSpPr>
        <p:spPr>
          <a:xfrm>
            <a:off x="876299" y="1205344"/>
            <a:ext cx="4090556" cy="548381"/>
          </a:xfrm>
        </p:spPr>
        <p:txBody>
          <a:bodyPr>
            <a:normAutofit fontScale="90000"/>
          </a:bodyPr>
          <a:lstStyle/>
          <a:p>
            <a:r>
              <a:rPr lang="en-US" dirty="0"/>
              <a:t>Literature survey</a:t>
            </a:r>
            <a:endParaRPr lang="en-IN" dirty="0"/>
          </a:p>
        </p:txBody>
      </p:sp>
      <p:sp>
        <p:nvSpPr>
          <p:cNvPr id="4" name="Date Placeholder 3">
            <a:extLst>
              <a:ext uri="{FF2B5EF4-FFF2-40B4-BE49-F238E27FC236}">
                <a16:creationId xmlns:a16="http://schemas.microsoft.com/office/drawing/2014/main" id="{295E43F6-AC47-F9DC-3FF0-4A910A0A3BB5}"/>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5BBF4A56-B6B5-7A3A-6341-231C12E21F18}"/>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7A82E7CA-1BF4-B1FE-A628-D5B60BBE0F87}"/>
              </a:ext>
            </a:extLst>
          </p:cNvPr>
          <p:cNvSpPr>
            <a:spLocks noGrp="1"/>
          </p:cNvSpPr>
          <p:nvPr>
            <p:ph type="sldNum" sz="quarter" idx="12"/>
          </p:nvPr>
        </p:nvSpPr>
        <p:spPr/>
        <p:txBody>
          <a:bodyPr/>
          <a:lstStyle/>
          <a:p>
            <a:fld id="{B5CEABB6-07DC-46E8-9B57-56EC44A396E5}" type="slidenum">
              <a:rPr lang="en-US" smtClean="0"/>
              <a:t>9</a:t>
            </a:fld>
            <a:endParaRPr lang="en-US" dirty="0"/>
          </a:p>
        </p:txBody>
      </p:sp>
      <p:graphicFrame>
        <p:nvGraphicFramePr>
          <p:cNvPr id="7" name="Table 6">
            <a:extLst>
              <a:ext uri="{FF2B5EF4-FFF2-40B4-BE49-F238E27FC236}">
                <a16:creationId xmlns:a16="http://schemas.microsoft.com/office/drawing/2014/main" id="{6FEAF305-D4F3-F161-D03C-5C27C50694BD}"/>
              </a:ext>
            </a:extLst>
          </p:cNvPr>
          <p:cNvGraphicFramePr>
            <a:graphicFrameLocks noGrp="1"/>
          </p:cNvGraphicFramePr>
          <p:nvPr>
            <p:extLst>
              <p:ext uri="{D42A27DB-BD31-4B8C-83A1-F6EECF244321}">
                <p14:modId xmlns:p14="http://schemas.microsoft.com/office/powerpoint/2010/main" val="1388834350"/>
              </p:ext>
            </p:extLst>
          </p:nvPr>
        </p:nvGraphicFramePr>
        <p:xfrm>
          <a:off x="381000" y="2160858"/>
          <a:ext cx="11613158" cy="1410773"/>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US" dirty="0">
                          <a:solidFill>
                            <a:schemeClr val="tx1"/>
                          </a:solidFill>
                        </a:rPr>
                        <a:t>Performance Prediction Using Machine Learning in Education</a:t>
                      </a:r>
                    </a:p>
                    <a:p>
                      <a:pPr algn="just"/>
                      <a:r>
                        <a:rPr lang="en-US" dirty="0">
                          <a:solidFill>
                            <a:schemeClr val="tx1"/>
                          </a:solidFill>
                        </a:rPr>
                        <a:t>Authors: Dr. Elena Petrova, Dr. James O'Connor</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spcBef>
                          <a:spcPts val="750"/>
                        </a:spcBef>
                        <a:spcAft>
                          <a:spcPts val="750"/>
                        </a:spcAft>
                      </a:pPr>
                      <a:r>
                        <a:rPr lang="en-US" altLang="en-US" sz="1600" b="0" i="0" kern="1200" dirty="0">
                          <a:solidFill>
                            <a:srgbClr val="2C3E50"/>
                          </a:solidFill>
                          <a:effectLst/>
                          <a:latin typeface="+mn-lt"/>
                          <a:ea typeface="+mn-ea"/>
                          <a:cs typeface="+mn-cs"/>
                        </a:rPr>
                        <a:t>This research applies machine learning techniques to predict student performance. It highlights the effectiveness of algorithms in identifying at-risk students and tailoring educational interventions accordingly.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graphicFrame>
        <p:nvGraphicFramePr>
          <p:cNvPr id="8" name="Table 7">
            <a:extLst>
              <a:ext uri="{FF2B5EF4-FFF2-40B4-BE49-F238E27FC236}">
                <a16:creationId xmlns:a16="http://schemas.microsoft.com/office/drawing/2014/main" id="{CA008DC7-0565-5BF2-2C43-C94A6E9A63BA}"/>
              </a:ext>
            </a:extLst>
          </p:cNvPr>
          <p:cNvGraphicFramePr>
            <a:graphicFrameLocks noGrp="1"/>
          </p:cNvGraphicFramePr>
          <p:nvPr>
            <p:extLst>
              <p:ext uri="{D42A27DB-BD31-4B8C-83A1-F6EECF244321}">
                <p14:modId xmlns:p14="http://schemas.microsoft.com/office/powerpoint/2010/main" val="3371821758"/>
              </p:ext>
            </p:extLst>
          </p:nvPr>
        </p:nvGraphicFramePr>
        <p:xfrm>
          <a:off x="381000" y="3593418"/>
          <a:ext cx="11613158" cy="1481265"/>
        </p:xfrm>
        <a:graphic>
          <a:graphicData uri="http://schemas.openxmlformats.org/drawingml/2006/table">
            <a:tbl>
              <a:tblPr firstRow="1" bandRow="1">
                <a:tableStyleId>{21E4AEA4-8DFA-4A89-87EB-49C32662AFE0}</a:tableStyleId>
              </a:tblPr>
              <a:tblGrid>
                <a:gridCol w="846836">
                  <a:extLst>
                    <a:ext uri="{9D8B030D-6E8A-4147-A177-3AD203B41FA5}">
                      <a16:colId xmlns:a16="http://schemas.microsoft.com/office/drawing/2014/main" val="3558814845"/>
                    </a:ext>
                  </a:extLst>
                </a:gridCol>
                <a:gridCol w="3655142">
                  <a:extLst>
                    <a:ext uri="{9D8B030D-6E8A-4147-A177-3AD203B41FA5}">
                      <a16:colId xmlns:a16="http://schemas.microsoft.com/office/drawing/2014/main" val="2252223558"/>
                    </a:ext>
                  </a:extLst>
                </a:gridCol>
                <a:gridCol w="766916">
                  <a:extLst>
                    <a:ext uri="{9D8B030D-6E8A-4147-A177-3AD203B41FA5}">
                      <a16:colId xmlns:a16="http://schemas.microsoft.com/office/drawing/2014/main" val="1833118224"/>
                    </a:ext>
                  </a:extLst>
                </a:gridCol>
                <a:gridCol w="6344264">
                  <a:extLst>
                    <a:ext uri="{9D8B030D-6E8A-4147-A177-3AD203B41FA5}">
                      <a16:colId xmlns:a16="http://schemas.microsoft.com/office/drawing/2014/main" val="3910302859"/>
                    </a:ext>
                  </a:extLst>
                </a:gridCol>
              </a:tblGrid>
              <a:tr h="1410773">
                <a:tc>
                  <a:txBody>
                    <a:bodyPr/>
                    <a:lstStyle/>
                    <a:p>
                      <a:pPr algn="just"/>
                      <a:r>
                        <a:rPr lang="en-IN"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US" altLang="en-US" sz="2000" b="1" kern="1200" dirty="0">
                          <a:solidFill>
                            <a:schemeClr val="tx1"/>
                          </a:solidFill>
                          <a:latin typeface="+mn-lt"/>
                          <a:ea typeface="+mn-ea"/>
                          <a:cs typeface="+mn-cs"/>
                        </a:rPr>
                        <a:t>Enhancing Student Visibility Beyond CGPA</a:t>
                      </a:r>
                    </a:p>
                    <a:p>
                      <a:pPr algn="just"/>
                      <a:r>
                        <a:rPr lang="en-US" altLang="en-US" sz="2000" b="1" kern="1200" dirty="0">
                          <a:solidFill>
                            <a:schemeClr val="tx1"/>
                          </a:solidFill>
                          <a:latin typeface="+mn-lt"/>
                          <a:ea typeface="+mn-ea"/>
                          <a:cs typeface="+mn-cs"/>
                        </a:rPr>
                        <a:t>Authors: Dr. Hiroshi Tanaka, Dr. Aisha Mohammed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gn="just"/>
                      <a:r>
                        <a:rPr lang="en-IN" sz="1800" dirty="0">
                          <a:solidFill>
                            <a:schemeClr val="tx1"/>
                          </a:solidFill>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pPr>
                        <a:lnSpc>
                          <a:spcPct val="130000"/>
                        </a:lnSpc>
                        <a:spcBef>
                          <a:spcPts val="750"/>
                        </a:spcBef>
                        <a:spcAft>
                          <a:spcPts val="750"/>
                        </a:spcAft>
                      </a:pPr>
                      <a:r>
                        <a:rPr lang="en-US" sz="1800" b="0" i="0" kern="1200" dirty="0">
                          <a:solidFill>
                            <a:srgbClr val="2C3E50"/>
                          </a:solidFill>
                          <a:effectLst/>
                          <a:latin typeface="+mn-lt"/>
                          <a:ea typeface="+mn-ea"/>
                          <a:cs typeface="+mn-cs"/>
                        </a:rPr>
                        <a:t>The paper advocates for assessment methods that go beyond CGPA, incorporating factors like project work, internships, and peer evaluations to provide a more comprehensive view of student 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153459039"/>
                  </a:ext>
                </a:extLst>
              </a:tr>
            </a:tbl>
          </a:graphicData>
        </a:graphic>
      </p:graphicFrame>
    </p:spTree>
    <p:extLst>
      <p:ext uri="{BB962C8B-B14F-4D97-AF65-F5344CB8AC3E}">
        <p14:creationId xmlns:p14="http://schemas.microsoft.com/office/powerpoint/2010/main" val="133698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1365" y="1126562"/>
            <a:ext cx="5439884" cy="1072124"/>
          </a:xfrm>
        </p:spPr>
        <p:txBody>
          <a:bodyPr>
            <a:noAutofit/>
          </a:bodyPr>
          <a:lstStyle/>
          <a:p>
            <a:r>
              <a:rPr lang="en-US" sz="3600" spc="-150" dirty="0"/>
              <a:t>Objective</a:t>
            </a:r>
          </a:p>
        </p:txBody>
      </p:sp>
      <p:sp>
        <p:nvSpPr>
          <p:cNvPr id="3" name="Subtitle 2"/>
          <p:cNvSpPr>
            <a:spLocks noGrp="1"/>
          </p:cNvSpPr>
          <p:nvPr>
            <p:ph idx="1"/>
          </p:nvPr>
        </p:nvSpPr>
        <p:spPr>
          <a:xfrm>
            <a:off x="1083973" y="2362199"/>
            <a:ext cx="7326602" cy="3667125"/>
          </a:xfrm>
        </p:spPr>
        <p:txBody>
          <a:bodyPr>
            <a:normAutofit/>
          </a:bodyPr>
          <a:lstStyle/>
          <a:p>
            <a:pPr marL="285750" indent="-285750">
              <a:buFont typeface="Wingdings" panose="05000000000000000000" pitchFamily="2" charset="2"/>
              <a:buChar char="Ø"/>
            </a:pPr>
            <a:r>
              <a:rPr lang="en-US" sz="1800" dirty="0">
                <a:solidFill>
                  <a:schemeClr val="tx1"/>
                </a:solidFill>
                <a:latin typeface="+mj-lt"/>
              </a:rPr>
              <a:t> Create a web-based platform for college-specific internship &amp; job recommendations</a:t>
            </a:r>
          </a:p>
          <a:p>
            <a:pPr marL="285750" indent="-285750">
              <a:buFont typeface="Wingdings" panose="05000000000000000000" pitchFamily="2" charset="2"/>
              <a:buChar char="Ø"/>
            </a:pPr>
            <a:r>
              <a:rPr lang="en-US" sz="1800" dirty="0">
                <a:solidFill>
                  <a:schemeClr val="tx1"/>
                </a:solidFill>
                <a:latin typeface="+mj-lt"/>
              </a:rPr>
              <a:t> Provide a gamified ranking system to encourage skill development</a:t>
            </a:r>
          </a:p>
          <a:p>
            <a:pPr marL="285750" indent="-285750">
              <a:buFont typeface="Wingdings" panose="05000000000000000000" pitchFamily="2" charset="2"/>
              <a:buChar char="Ø"/>
            </a:pPr>
            <a:r>
              <a:rPr lang="en-US" sz="1800" dirty="0">
                <a:solidFill>
                  <a:schemeClr val="tx1"/>
                </a:solidFill>
                <a:latin typeface="+mj-lt"/>
              </a:rPr>
              <a:t> Offer an admin dashboard for placement officers to manage recruitment efficiently</a:t>
            </a:r>
          </a:p>
          <a:p>
            <a:pPr marL="285750" indent="-285750">
              <a:buFont typeface="Wingdings" panose="05000000000000000000" pitchFamily="2" charset="2"/>
              <a:buChar char="Ø"/>
            </a:pPr>
            <a:r>
              <a:rPr lang="en-US" sz="1800" dirty="0">
                <a:solidFill>
                  <a:schemeClr val="tx1"/>
                </a:solidFill>
                <a:latin typeface="+mj-lt"/>
              </a:rPr>
              <a:t> Help students make data-driven decisions about career opportunities</a:t>
            </a:r>
          </a:p>
          <a:p>
            <a:pPr marL="285750" indent="-285750">
              <a:buFont typeface="Wingdings" panose="05000000000000000000" pitchFamily="2" charset="2"/>
              <a:buChar char="Ø"/>
            </a:pPr>
            <a:r>
              <a:rPr lang="en-US" sz="1800" dirty="0">
                <a:solidFill>
                  <a:schemeClr val="tx1"/>
                </a:solidFill>
                <a:latin typeface="+mj-lt"/>
              </a:rPr>
              <a:t> Increase student participation through leaderboards &amp; performance tracking</a:t>
            </a:r>
            <a:endParaRPr lang="en-IN" sz="1800" dirty="0">
              <a:solidFill>
                <a:schemeClr val="tx1"/>
              </a:solidFill>
              <a:latin typeface="+mj-lt"/>
            </a:endParaRPr>
          </a:p>
        </p:txBody>
      </p:sp>
      <p:sp>
        <p:nvSpPr>
          <p:cNvPr id="6" name="Date Placeholder 5"/>
          <p:cNvSpPr>
            <a:spLocks noGrp="1"/>
          </p:cNvSpPr>
          <p:nvPr>
            <p:ph type="dt" sz="half" idx="10"/>
          </p:nvPr>
        </p:nvSpPr>
        <p:spPr>
          <a:xfrm>
            <a:off x="1333500" y="6356350"/>
            <a:ext cx="985157" cy="365125"/>
          </a:xfrm>
        </p:spPr>
        <p:txBody>
          <a:bodyPr/>
          <a:lstStyle/>
          <a:p>
            <a:r>
              <a:rPr lang="en-US" dirty="0"/>
              <a:t>2025</a:t>
            </a:r>
          </a:p>
        </p:txBody>
      </p:sp>
      <p:sp>
        <p:nvSpPr>
          <p:cNvPr id="5" name="Footer Placeholder 4"/>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p:cNvSpPr>
            <a:spLocks noGrp="1"/>
          </p:cNvSpPr>
          <p:nvPr>
            <p:ph type="sldNum" sz="quarter" idx="12"/>
          </p:nvPr>
        </p:nvSpPr>
        <p:spPr>
          <a:xfrm>
            <a:off x="5536305" y="6356350"/>
            <a:ext cx="987552" cy="365125"/>
          </a:xfrm>
        </p:spPr>
        <p:txBody>
          <a:bodyPr/>
          <a:lstStyle/>
          <a:p>
            <a:fld id="{19B51A1E-902D-48AF-9020-955120F399B6}" type="slidenum">
              <a:rPr lang="en-US" smtClean="0"/>
              <a:t>10</a:t>
            </a:fld>
            <a:endParaRPr lang="en-US" dirty="0"/>
          </a:p>
        </p:txBody>
      </p:sp>
    </p:spTree>
    <p:extLst>
      <p:ext uri="{BB962C8B-B14F-4D97-AF65-F5344CB8AC3E}">
        <p14:creationId xmlns:p14="http://schemas.microsoft.com/office/powerpoint/2010/main" val="2949164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137676"/>
            <a:ext cx="6355052" cy="1072124"/>
          </a:xfrm>
        </p:spPr>
        <p:txBody>
          <a:bodyPr>
            <a:noAutofit/>
          </a:bodyPr>
          <a:lstStyle/>
          <a:p>
            <a:r>
              <a:rPr lang="en-IN" sz="3600" spc="-150" dirty="0"/>
              <a:t>Proposed Methodology</a:t>
            </a:r>
            <a:br>
              <a:rPr lang="en-IN" sz="3600" spc="-150" dirty="0"/>
            </a:br>
            <a:endParaRPr lang="en-US" sz="3600" spc="-150" dirty="0"/>
          </a:p>
        </p:txBody>
      </p:sp>
      <p:sp>
        <p:nvSpPr>
          <p:cNvPr id="6" name="Date Placeholder 5"/>
          <p:cNvSpPr>
            <a:spLocks noGrp="1"/>
          </p:cNvSpPr>
          <p:nvPr>
            <p:ph type="dt" sz="half" idx="10"/>
          </p:nvPr>
        </p:nvSpPr>
        <p:spPr>
          <a:xfrm>
            <a:off x="1333500" y="6356350"/>
            <a:ext cx="985157" cy="365125"/>
          </a:xfrm>
        </p:spPr>
        <p:txBody>
          <a:bodyPr/>
          <a:lstStyle/>
          <a:p>
            <a:r>
              <a:rPr lang="en-US" dirty="0"/>
              <a:t>2025</a:t>
            </a:r>
          </a:p>
        </p:txBody>
      </p:sp>
      <p:sp>
        <p:nvSpPr>
          <p:cNvPr id="5" name="Footer Placeholder 4"/>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p:cNvSpPr>
            <a:spLocks noGrp="1"/>
          </p:cNvSpPr>
          <p:nvPr>
            <p:ph type="sldNum" sz="quarter" idx="12"/>
          </p:nvPr>
        </p:nvSpPr>
        <p:spPr>
          <a:xfrm>
            <a:off x="5536305" y="6356350"/>
            <a:ext cx="987552" cy="365125"/>
          </a:xfrm>
        </p:spPr>
        <p:txBody>
          <a:bodyPr/>
          <a:lstStyle/>
          <a:p>
            <a:fld id="{19B51A1E-902D-48AF-9020-955120F399B6}" type="slidenum">
              <a:rPr lang="en-US" smtClean="0"/>
              <a:t>11</a:t>
            </a:fld>
            <a:endParaRPr lang="en-US" dirty="0"/>
          </a:p>
        </p:txBody>
      </p:sp>
      <p:sp>
        <p:nvSpPr>
          <p:cNvPr id="8" name="Content Placeholder 7">
            <a:extLst>
              <a:ext uri="{FF2B5EF4-FFF2-40B4-BE49-F238E27FC236}">
                <a16:creationId xmlns:a16="http://schemas.microsoft.com/office/drawing/2014/main" id="{31349EA6-7380-1E4B-A529-D0867E5D6804}"/>
              </a:ext>
            </a:extLst>
          </p:cNvPr>
          <p:cNvSpPr>
            <a:spLocks noGrp="1"/>
          </p:cNvSpPr>
          <p:nvPr>
            <p:ph idx="1"/>
          </p:nvPr>
        </p:nvSpPr>
        <p:spPr>
          <a:xfrm>
            <a:off x="1333500" y="2057400"/>
            <a:ext cx="6134100" cy="1371600"/>
          </a:xfrm>
        </p:spPr>
        <p:txBody>
          <a:bodyPr>
            <a:noAutofit/>
          </a:bodyPr>
          <a:lstStyle/>
          <a:p>
            <a:pPr marL="0" indent="0">
              <a:buNone/>
            </a:pPr>
            <a:r>
              <a:rPr lang="en-US" dirty="0"/>
              <a:t>The final product is designed to be a scalable, automated system that collects student data from verified sources, calculates their overall performance score, and displays a dynamic leaderboard through a web-based dashboard.</a:t>
            </a:r>
          </a:p>
        </p:txBody>
      </p:sp>
      <p:sp>
        <p:nvSpPr>
          <p:cNvPr id="9" name="TextBox 8">
            <a:extLst>
              <a:ext uri="{FF2B5EF4-FFF2-40B4-BE49-F238E27FC236}">
                <a16:creationId xmlns:a16="http://schemas.microsoft.com/office/drawing/2014/main" id="{7D0E0249-4017-3FAB-661D-797499A8363B}"/>
              </a:ext>
            </a:extLst>
          </p:cNvPr>
          <p:cNvSpPr txBox="1"/>
          <p:nvPr/>
        </p:nvSpPr>
        <p:spPr>
          <a:xfrm>
            <a:off x="1333500" y="3572194"/>
            <a:ext cx="5753100" cy="954107"/>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t>Data Collection</a:t>
            </a:r>
          </a:p>
          <a:p>
            <a:pPr marL="800100" lvl="1" indent="-342900">
              <a:buFont typeface="Arial" panose="020B0604020202020204" pitchFamily="34" charset="0"/>
              <a:buChar char="•"/>
            </a:pPr>
            <a:r>
              <a:rPr lang="en-US" sz="1400" dirty="0"/>
              <a:t>Data will be gathered via online forms or APIs, fetching academic records, coding platform scores (e.g., </a:t>
            </a:r>
            <a:r>
              <a:rPr lang="en-US" sz="1400" dirty="0" err="1"/>
              <a:t>LeetCode</a:t>
            </a:r>
            <a:r>
              <a:rPr lang="en-US" sz="1400" dirty="0"/>
              <a:t>, GitHub), and internship data.</a:t>
            </a:r>
          </a:p>
        </p:txBody>
      </p:sp>
      <p:sp>
        <p:nvSpPr>
          <p:cNvPr id="10" name="TextBox 9">
            <a:extLst>
              <a:ext uri="{FF2B5EF4-FFF2-40B4-BE49-F238E27FC236}">
                <a16:creationId xmlns:a16="http://schemas.microsoft.com/office/drawing/2014/main" id="{B3FE6D8D-70BD-5F9B-8439-1A61230C24B6}"/>
              </a:ext>
            </a:extLst>
          </p:cNvPr>
          <p:cNvSpPr txBox="1"/>
          <p:nvPr/>
        </p:nvSpPr>
        <p:spPr>
          <a:xfrm>
            <a:off x="1333500" y="4572000"/>
            <a:ext cx="5715000" cy="954107"/>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t> Backend Processing</a:t>
            </a:r>
          </a:p>
          <a:p>
            <a:pPr marL="742950" lvl="1" indent="-285750">
              <a:buFont typeface="Arial" panose="020B0604020202020204" pitchFamily="34" charset="0"/>
              <a:buChar char="•"/>
            </a:pPr>
            <a:r>
              <a:rPr lang="en-US" sz="1400" dirty="0"/>
              <a:t>A server-side application (Python/Node.js) will process incoming data. A scoring algorithm will calculate each student's final score based on predefined weights.</a:t>
            </a:r>
          </a:p>
        </p:txBody>
      </p:sp>
    </p:spTree>
    <p:extLst>
      <p:ext uri="{BB962C8B-B14F-4D97-AF65-F5344CB8AC3E}">
        <p14:creationId xmlns:p14="http://schemas.microsoft.com/office/powerpoint/2010/main" val="731500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274A5-4B5B-8A57-A1DC-5B7B801D2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05DC8-E951-EF9D-5996-B7BBAE83A7A2}"/>
              </a:ext>
            </a:extLst>
          </p:cNvPr>
          <p:cNvSpPr>
            <a:spLocks noGrp="1"/>
          </p:cNvSpPr>
          <p:nvPr>
            <p:ph type="title"/>
          </p:nvPr>
        </p:nvSpPr>
        <p:spPr>
          <a:xfrm>
            <a:off x="1295400" y="1137676"/>
            <a:ext cx="6355052" cy="1072124"/>
          </a:xfrm>
        </p:spPr>
        <p:txBody>
          <a:bodyPr>
            <a:noAutofit/>
          </a:bodyPr>
          <a:lstStyle/>
          <a:p>
            <a:r>
              <a:rPr lang="en-IN" sz="3600" spc="-150" dirty="0"/>
              <a:t>Proposed Methodology</a:t>
            </a:r>
            <a:br>
              <a:rPr lang="en-IN" sz="3600" spc="-150" dirty="0"/>
            </a:br>
            <a:endParaRPr lang="en-US" sz="3600" spc="-150" dirty="0"/>
          </a:p>
        </p:txBody>
      </p:sp>
      <p:sp>
        <p:nvSpPr>
          <p:cNvPr id="6" name="Date Placeholder 5">
            <a:extLst>
              <a:ext uri="{FF2B5EF4-FFF2-40B4-BE49-F238E27FC236}">
                <a16:creationId xmlns:a16="http://schemas.microsoft.com/office/drawing/2014/main" id="{621EEE07-DD75-3115-6009-BE4E1D8BD4AE}"/>
              </a:ext>
            </a:extLst>
          </p:cNvPr>
          <p:cNvSpPr>
            <a:spLocks noGrp="1"/>
          </p:cNvSpPr>
          <p:nvPr>
            <p:ph type="dt" sz="half" idx="10"/>
          </p:nvPr>
        </p:nvSpPr>
        <p:spPr>
          <a:xfrm>
            <a:off x="1333500" y="6356350"/>
            <a:ext cx="985157" cy="365125"/>
          </a:xfrm>
        </p:spPr>
        <p:txBody>
          <a:bodyPr/>
          <a:lstStyle/>
          <a:p>
            <a:r>
              <a:rPr lang="en-US" dirty="0"/>
              <a:t>2025</a:t>
            </a:r>
          </a:p>
        </p:txBody>
      </p:sp>
      <p:sp>
        <p:nvSpPr>
          <p:cNvPr id="5" name="Footer Placeholder 4">
            <a:extLst>
              <a:ext uri="{FF2B5EF4-FFF2-40B4-BE49-F238E27FC236}">
                <a16:creationId xmlns:a16="http://schemas.microsoft.com/office/drawing/2014/main" id="{42309E77-69CA-005B-D05B-C1477EEE61EE}"/>
              </a:ext>
            </a:extLst>
          </p:cNvPr>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a:extLst>
              <a:ext uri="{FF2B5EF4-FFF2-40B4-BE49-F238E27FC236}">
                <a16:creationId xmlns:a16="http://schemas.microsoft.com/office/drawing/2014/main" id="{3B46AC5C-45C6-6804-B63B-BCD0726B15A6}"/>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t>12</a:t>
            </a:fld>
            <a:endParaRPr lang="en-US" dirty="0"/>
          </a:p>
        </p:txBody>
      </p:sp>
      <p:sp>
        <p:nvSpPr>
          <p:cNvPr id="9" name="TextBox 8">
            <a:extLst>
              <a:ext uri="{FF2B5EF4-FFF2-40B4-BE49-F238E27FC236}">
                <a16:creationId xmlns:a16="http://schemas.microsoft.com/office/drawing/2014/main" id="{6032DF06-CB0A-D0CA-A6C5-3652CB5405AA}"/>
              </a:ext>
            </a:extLst>
          </p:cNvPr>
          <p:cNvSpPr txBox="1"/>
          <p:nvPr/>
        </p:nvSpPr>
        <p:spPr>
          <a:xfrm>
            <a:off x="1333500" y="2308631"/>
            <a:ext cx="5753100" cy="954107"/>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t>Database Integration</a:t>
            </a:r>
          </a:p>
          <a:p>
            <a:pPr marL="742950" lvl="1" indent="-285750">
              <a:buFont typeface="Arial" panose="020B0604020202020204" pitchFamily="34" charset="0"/>
              <a:buChar char="•"/>
            </a:pPr>
            <a:r>
              <a:rPr lang="en-US" sz="1400" dirty="0"/>
              <a:t>All data will be stored in a centralized database (e.g., MongoDB, MySQL) to ensure persistence, integrity, and easy querying.</a:t>
            </a:r>
          </a:p>
        </p:txBody>
      </p:sp>
      <p:sp>
        <p:nvSpPr>
          <p:cNvPr id="10" name="TextBox 9">
            <a:extLst>
              <a:ext uri="{FF2B5EF4-FFF2-40B4-BE49-F238E27FC236}">
                <a16:creationId xmlns:a16="http://schemas.microsoft.com/office/drawing/2014/main" id="{91D5D005-8497-8D06-1E9C-944121E692F4}"/>
              </a:ext>
            </a:extLst>
          </p:cNvPr>
          <p:cNvSpPr txBox="1"/>
          <p:nvPr/>
        </p:nvSpPr>
        <p:spPr>
          <a:xfrm>
            <a:off x="1312069" y="3723285"/>
            <a:ext cx="5715000" cy="738664"/>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t> Dynamic Leaderboard</a:t>
            </a:r>
          </a:p>
          <a:p>
            <a:pPr marL="742950" lvl="1" indent="-285750">
              <a:buFont typeface="Arial" panose="020B0604020202020204" pitchFamily="34" charset="0"/>
              <a:buChar char="•"/>
            </a:pPr>
            <a:r>
              <a:rPr lang="en-US" sz="1400" dirty="0"/>
              <a:t>A responsive frontend (React/Angular) will fetch data from the backend via APIs and display real-time rankings.</a:t>
            </a:r>
          </a:p>
        </p:txBody>
      </p:sp>
      <p:sp>
        <p:nvSpPr>
          <p:cNvPr id="11" name="TextBox 10">
            <a:extLst>
              <a:ext uri="{FF2B5EF4-FFF2-40B4-BE49-F238E27FC236}">
                <a16:creationId xmlns:a16="http://schemas.microsoft.com/office/drawing/2014/main" id="{CDF60B13-EF00-301B-62EE-FF793AF32E16}"/>
              </a:ext>
            </a:extLst>
          </p:cNvPr>
          <p:cNvSpPr txBox="1"/>
          <p:nvPr/>
        </p:nvSpPr>
        <p:spPr>
          <a:xfrm>
            <a:off x="1333500" y="4922497"/>
            <a:ext cx="5715000" cy="738664"/>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t>  Admin Panel</a:t>
            </a:r>
          </a:p>
          <a:p>
            <a:pPr marL="742950" lvl="1" indent="-285750">
              <a:buFont typeface="Arial" panose="020B0604020202020204" pitchFamily="34" charset="0"/>
              <a:buChar char="•"/>
            </a:pPr>
            <a:r>
              <a:rPr lang="en-US" sz="1400" dirty="0"/>
              <a:t>Admins or faculty can manage records, tweak scoring weights, and export reports as needed.</a:t>
            </a:r>
          </a:p>
        </p:txBody>
      </p:sp>
    </p:spTree>
    <p:extLst>
      <p:ext uri="{BB962C8B-B14F-4D97-AF65-F5344CB8AC3E}">
        <p14:creationId xmlns:p14="http://schemas.microsoft.com/office/powerpoint/2010/main" val="1458136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2019FF3-888E-2B3C-48A4-07AB5C092BCB}"/>
              </a:ext>
            </a:extLst>
          </p:cNvPr>
          <p:cNvSpPr>
            <a:spLocks noGrp="1"/>
          </p:cNvSpPr>
          <p:nvPr>
            <p:ph type="dt" sz="half" idx="10"/>
          </p:nvPr>
        </p:nvSpPr>
        <p:spPr/>
        <p:txBody>
          <a:bodyPr/>
          <a:lstStyle/>
          <a:p>
            <a:r>
              <a:rPr lang="en-US"/>
              <a:t>2025</a:t>
            </a:r>
            <a:endParaRPr lang="en-US" dirty="0"/>
          </a:p>
        </p:txBody>
      </p:sp>
      <p:sp>
        <p:nvSpPr>
          <p:cNvPr id="5" name="Footer Placeholder 4">
            <a:extLst>
              <a:ext uri="{FF2B5EF4-FFF2-40B4-BE49-F238E27FC236}">
                <a16:creationId xmlns:a16="http://schemas.microsoft.com/office/drawing/2014/main" id="{55CC61CF-ADF6-CF78-F9C1-5C10A8AA28FA}"/>
              </a:ext>
            </a:extLst>
          </p:cNvPr>
          <p:cNvSpPr>
            <a:spLocks noGrp="1"/>
          </p:cNvSpPr>
          <p:nvPr>
            <p:ph type="ftr" sz="quarter" idx="11"/>
          </p:nvPr>
        </p:nvSpPr>
        <p:spPr/>
        <p:txBody>
          <a:bodyPr/>
          <a:lstStyle/>
          <a:p>
            <a:r>
              <a:rPr lang="en-US"/>
              <a:t>Career Connect</a:t>
            </a:r>
            <a:endParaRPr lang="en-US" dirty="0"/>
          </a:p>
        </p:txBody>
      </p:sp>
      <p:sp>
        <p:nvSpPr>
          <p:cNvPr id="6" name="Slide Number Placeholder 5">
            <a:extLst>
              <a:ext uri="{FF2B5EF4-FFF2-40B4-BE49-F238E27FC236}">
                <a16:creationId xmlns:a16="http://schemas.microsoft.com/office/drawing/2014/main" id="{9A80E5F7-407E-C8EC-7898-868D9D91C5A1}"/>
              </a:ext>
            </a:extLst>
          </p:cNvPr>
          <p:cNvSpPr>
            <a:spLocks noGrp="1"/>
          </p:cNvSpPr>
          <p:nvPr>
            <p:ph type="sldNum" sz="quarter" idx="12"/>
          </p:nvPr>
        </p:nvSpPr>
        <p:spPr/>
        <p:txBody>
          <a:bodyPr/>
          <a:lstStyle/>
          <a:p>
            <a:fld id="{B5CEABB6-07DC-46E8-9B57-56EC44A396E5}" type="slidenum">
              <a:rPr lang="en-US" smtClean="0"/>
              <a:t>13</a:t>
            </a:fld>
            <a:endParaRPr lang="en-US" dirty="0"/>
          </a:p>
        </p:txBody>
      </p:sp>
      <p:pic>
        <p:nvPicPr>
          <p:cNvPr id="3" name="Picture 2">
            <a:extLst>
              <a:ext uri="{FF2B5EF4-FFF2-40B4-BE49-F238E27FC236}">
                <a16:creationId xmlns:a16="http://schemas.microsoft.com/office/drawing/2014/main" id="{2C7EB14C-F66C-5D2C-F3BA-8DD0A0B03B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2456" y="343991"/>
            <a:ext cx="5146146" cy="6553200"/>
          </a:xfrm>
          <a:prstGeom prst="rect">
            <a:avLst/>
          </a:prstGeom>
        </p:spPr>
      </p:pic>
      <p:sp>
        <p:nvSpPr>
          <p:cNvPr id="7" name="Title 1">
            <a:extLst>
              <a:ext uri="{FF2B5EF4-FFF2-40B4-BE49-F238E27FC236}">
                <a16:creationId xmlns:a16="http://schemas.microsoft.com/office/drawing/2014/main" id="{F9E161B3-7770-EAFE-2E89-FA93FD74D97B}"/>
              </a:ext>
            </a:extLst>
          </p:cNvPr>
          <p:cNvSpPr>
            <a:spLocks noGrp="1"/>
          </p:cNvSpPr>
          <p:nvPr>
            <p:ph type="title"/>
          </p:nvPr>
        </p:nvSpPr>
        <p:spPr>
          <a:xfrm>
            <a:off x="762000" y="609600"/>
            <a:ext cx="6355052" cy="1072124"/>
          </a:xfrm>
        </p:spPr>
        <p:txBody>
          <a:bodyPr>
            <a:noAutofit/>
          </a:bodyPr>
          <a:lstStyle/>
          <a:p>
            <a:r>
              <a:rPr lang="en-IN" sz="3600" spc="-150" dirty="0"/>
              <a:t>Proposed Methodology</a:t>
            </a:r>
            <a:br>
              <a:rPr lang="en-IN" sz="3600" spc="-150" dirty="0"/>
            </a:br>
            <a:endParaRPr lang="en-US" sz="3600" spc="-150" dirty="0"/>
          </a:p>
        </p:txBody>
      </p:sp>
      <p:sp>
        <p:nvSpPr>
          <p:cNvPr id="9" name="Rectangle 8">
            <a:extLst>
              <a:ext uri="{FF2B5EF4-FFF2-40B4-BE49-F238E27FC236}">
                <a16:creationId xmlns:a16="http://schemas.microsoft.com/office/drawing/2014/main" id="{6D422990-8F4B-5286-9A64-F4F4FB0BCE88}"/>
              </a:ext>
            </a:extLst>
          </p:cNvPr>
          <p:cNvSpPr/>
          <p:nvPr/>
        </p:nvSpPr>
        <p:spPr>
          <a:xfrm flipH="1">
            <a:off x="224725" y="2362200"/>
            <a:ext cx="2453918" cy="369332"/>
          </a:xfrm>
          <a:prstGeom prst="rect">
            <a:avLst/>
          </a:prstGeom>
          <a:noFill/>
        </p:spPr>
        <p:txBody>
          <a:bodyPr wrap="square" lIns="91440" tIns="45720" rIns="91440" bIns="45720">
            <a:spAutoFit/>
          </a:bodyPr>
          <a:lstStyle/>
          <a:p>
            <a:pPr algn="ctr"/>
            <a:r>
              <a:rPr lang="en-US" dirty="0">
                <a:ln w="0"/>
                <a:solidFill>
                  <a:schemeClr val="accent1"/>
                </a:solidFill>
                <a:effectLst>
                  <a:outerShdw blurRad="38100" dist="25400" dir="5400000" algn="ctr" rotWithShape="0">
                    <a:srgbClr val="6E747A">
                      <a:alpha val="43000"/>
                    </a:srgbClr>
                  </a:outerShdw>
                </a:effectLst>
              </a:rPr>
              <a:t>Flowchart</a:t>
            </a:r>
            <a:endParaRPr lang="en-US"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657914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A5F0E-E277-746E-D381-A4D9E7BE940F}"/>
              </a:ext>
            </a:extLst>
          </p:cNvPr>
          <p:cNvSpPr>
            <a:spLocks noGrp="1"/>
          </p:cNvSpPr>
          <p:nvPr>
            <p:ph type="title"/>
          </p:nvPr>
        </p:nvSpPr>
        <p:spPr>
          <a:xfrm>
            <a:off x="677334" y="609600"/>
            <a:ext cx="8596668" cy="685800"/>
          </a:xfrm>
        </p:spPr>
        <p:txBody>
          <a:bodyPr/>
          <a:lstStyle/>
          <a:p>
            <a:r>
              <a:rPr lang="en-US" b="1" dirty="0"/>
              <a:t>Implementation</a:t>
            </a:r>
          </a:p>
        </p:txBody>
      </p:sp>
      <p:sp>
        <p:nvSpPr>
          <p:cNvPr id="4" name="TextBox 3">
            <a:extLst>
              <a:ext uri="{FF2B5EF4-FFF2-40B4-BE49-F238E27FC236}">
                <a16:creationId xmlns:a16="http://schemas.microsoft.com/office/drawing/2014/main" id="{07B116AF-F8BF-CD6D-4218-F35D2ACDD8E2}"/>
              </a:ext>
            </a:extLst>
          </p:cNvPr>
          <p:cNvSpPr txBox="1"/>
          <p:nvPr/>
        </p:nvSpPr>
        <p:spPr>
          <a:xfrm>
            <a:off x="677334" y="1447800"/>
            <a:ext cx="8305800" cy="1200329"/>
          </a:xfrm>
          <a:prstGeom prst="rect">
            <a:avLst/>
          </a:prstGeom>
          <a:noFill/>
        </p:spPr>
        <p:txBody>
          <a:bodyPr wrap="square" rtlCol="0">
            <a:spAutoFit/>
          </a:bodyPr>
          <a:lstStyle/>
          <a:p>
            <a:r>
              <a:rPr lang="en-US" dirty="0"/>
              <a:t>The system is implemented using Python for score calculation and Excel/JSON </a:t>
            </a:r>
            <a:r>
              <a:rPr lang="en-US" dirty="0" err="1"/>
              <a:t>handling.The</a:t>
            </a:r>
            <a:r>
              <a:rPr lang="en-US" dirty="0"/>
              <a:t> frontend is built using HTML/CSS to display the updated </a:t>
            </a:r>
            <a:r>
              <a:rPr lang="en-US" dirty="0" err="1"/>
              <a:t>leaderboard.The</a:t>
            </a:r>
            <a:r>
              <a:rPr lang="en-US" dirty="0"/>
              <a:t> backend script updates Final Scores and leaderboard without requiring a full database server (prototype phase).</a:t>
            </a:r>
          </a:p>
        </p:txBody>
      </p:sp>
      <p:grpSp>
        <p:nvGrpSpPr>
          <p:cNvPr id="19" name="Group 18">
            <a:extLst>
              <a:ext uri="{FF2B5EF4-FFF2-40B4-BE49-F238E27FC236}">
                <a16:creationId xmlns:a16="http://schemas.microsoft.com/office/drawing/2014/main" id="{D4EB8ABB-9F81-C501-8A80-C3B0B0F1216F}"/>
              </a:ext>
            </a:extLst>
          </p:cNvPr>
          <p:cNvGrpSpPr/>
          <p:nvPr/>
        </p:nvGrpSpPr>
        <p:grpSpPr>
          <a:xfrm>
            <a:off x="457200" y="3037327"/>
            <a:ext cx="8840907" cy="1947689"/>
            <a:chOff x="677334" y="3057637"/>
            <a:chExt cx="8840907" cy="1947689"/>
          </a:xfrm>
        </p:grpSpPr>
        <p:pic>
          <p:nvPicPr>
            <p:cNvPr id="8" name="Picture 7">
              <a:extLst>
                <a:ext uri="{FF2B5EF4-FFF2-40B4-BE49-F238E27FC236}">
                  <a16:creationId xmlns:a16="http://schemas.microsoft.com/office/drawing/2014/main" id="{4E076A4D-E108-9B1A-7E62-775AB5EF6D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3068310"/>
              <a:ext cx="4268906" cy="1937016"/>
            </a:xfrm>
            <a:prstGeom prst="rect">
              <a:avLst/>
            </a:prstGeom>
            <a:ln>
              <a:solidFill>
                <a:schemeClr val="tx1"/>
              </a:solidFill>
            </a:ln>
          </p:spPr>
        </p:pic>
        <p:pic>
          <p:nvPicPr>
            <p:cNvPr id="10" name="Picture 9">
              <a:extLst>
                <a:ext uri="{FF2B5EF4-FFF2-40B4-BE49-F238E27FC236}">
                  <a16:creationId xmlns:a16="http://schemas.microsoft.com/office/drawing/2014/main" id="{26F0C4F1-AAF2-0B77-67E1-EAF838E372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9334" y="3057637"/>
              <a:ext cx="4268907" cy="1947689"/>
            </a:xfrm>
            <a:prstGeom prst="rect">
              <a:avLst/>
            </a:prstGeom>
            <a:ln>
              <a:solidFill>
                <a:schemeClr val="tx1"/>
              </a:solidFill>
            </a:ln>
          </p:spPr>
        </p:pic>
      </p:grpSp>
    </p:spTree>
    <p:extLst>
      <p:ext uri="{BB962C8B-B14F-4D97-AF65-F5344CB8AC3E}">
        <p14:creationId xmlns:p14="http://schemas.microsoft.com/office/powerpoint/2010/main" val="4188913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89056-C76D-0ACE-FE4A-02FD7FEBB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340AD-65F1-D538-1055-E9130B9AB0F0}"/>
              </a:ext>
            </a:extLst>
          </p:cNvPr>
          <p:cNvSpPr>
            <a:spLocks noGrp="1"/>
          </p:cNvSpPr>
          <p:nvPr>
            <p:ph type="title"/>
          </p:nvPr>
        </p:nvSpPr>
        <p:spPr>
          <a:xfrm>
            <a:off x="677334" y="609600"/>
            <a:ext cx="8596668" cy="685800"/>
          </a:xfrm>
        </p:spPr>
        <p:txBody>
          <a:bodyPr/>
          <a:lstStyle/>
          <a:p>
            <a:r>
              <a:rPr lang="en-US" b="1" dirty="0"/>
              <a:t>Implementation</a:t>
            </a:r>
          </a:p>
        </p:txBody>
      </p:sp>
      <p:grpSp>
        <p:nvGrpSpPr>
          <p:cNvPr id="19" name="Group 18">
            <a:extLst>
              <a:ext uri="{FF2B5EF4-FFF2-40B4-BE49-F238E27FC236}">
                <a16:creationId xmlns:a16="http://schemas.microsoft.com/office/drawing/2014/main" id="{3E6D1698-8DE9-F564-2898-4D496497813E}"/>
              </a:ext>
            </a:extLst>
          </p:cNvPr>
          <p:cNvGrpSpPr/>
          <p:nvPr/>
        </p:nvGrpSpPr>
        <p:grpSpPr>
          <a:xfrm>
            <a:off x="710670" y="1524239"/>
            <a:ext cx="8689029" cy="4109729"/>
            <a:chOff x="710670" y="1524239"/>
            <a:chExt cx="8689029" cy="4109729"/>
          </a:xfrm>
        </p:grpSpPr>
        <p:pic>
          <p:nvPicPr>
            <p:cNvPr id="6" name="Picture 5">
              <a:extLst>
                <a:ext uri="{FF2B5EF4-FFF2-40B4-BE49-F238E27FC236}">
                  <a16:creationId xmlns:a16="http://schemas.microsoft.com/office/drawing/2014/main" id="{062FF367-7F14-A34A-5A25-5F5645A4A1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671" y="1524239"/>
              <a:ext cx="4268907" cy="1939684"/>
            </a:xfrm>
            <a:prstGeom prst="rect">
              <a:avLst/>
            </a:prstGeom>
            <a:ln>
              <a:solidFill>
                <a:schemeClr val="tx1"/>
              </a:solidFill>
            </a:ln>
          </p:spPr>
        </p:pic>
        <p:pic>
          <p:nvPicPr>
            <p:cNvPr id="12" name="Picture 11">
              <a:extLst>
                <a:ext uri="{FF2B5EF4-FFF2-40B4-BE49-F238E27FC236}">
                  <a16:creationId xmlns:a16="http://schemas.microsoft.com/office/drawing/2014/main" id="{146D0545-ACFE-AD54-1F03-9C6893246B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0670" y="3702287"/>
              <a:ext cx="4268907" cy="1931681"/>
            </a:xfrm>
            <a:prstGeom prst="rect">
              <a:avLst/>
            </a:prstGeom>
            <a:ln>
              <a:solidFill>
                <a:schemeClr val="tx1"/>
              </a:solidFill>
            </a:ln>
          </p:spPr>
        </p:pic>
        <p:pic>
          <p:nvPicPr>
            <p:cNvPr id="14" name="Picture 13">
              <a:extLst>
                <a:ext uri="{FF2B5EF4-FFF2-40B4-BE49-F238E27FC236}">
                  <a16:creationId xmlns:a16="http://schemas.microsoft.com/office/drawing/2014/main" id="{598D41FF-BF32-4DED-7A74-F602188DFA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322" y="1538457"/>
              <a:ext cx="4263255" cy="1950440"/>
            </a:xfrm>
            <a:prstGeom prst="rect">
              <a:avLst/>
            </a:prstGeom>
            <a:ln>
              <a:solidFill>
                <a:schemeClr val="tx1"/>
              </a:solidFill>
            </a:ln>
          </p:spPr>
        </p:pic>
        <p:pic>
          <p:nvPicPr>
            <p:cNvPr id="16" name="Picture 15">
              <a:extLst>
                <a:ext uri="{FF2B5EF4-FFF2-40B4-BE49-F238E27FC236}">
                  <a16:creationId xmlns:a16="http://schemas.microsoft.com/office/drawing/2014/main" id="{4ED84F44-F7CF-7A87-5E08-8E02F0C3EB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3124" y="3702287"/>
              <a:ext cx="4206575" cy="1931681"/>
            </a:xfrm>
            <a:prstGeom prst="rect">
              <a:avLst/>
            </a:prstGeom>
            <a:ln>
              <a:solidFill>
                <a:schemeClr val="tx1"/>
              </a:solidFill>
            </a:ln>
          </p:spPr>
        </p:pic>
      </p:grpSp>
      <p:pic>
        <p:nvPicPr>
          <p:cNvPr id="5" name="Picture 4">
            <a:extLst>
              <a:ext uri="{FF2B5EF4-FFF2-40B4-BE49-F238E27FC236}">
                <a16:creationId xmlns:a16="http://schemas.microsoft.com/office/drawing/2014/main" id="{D5D2F0AC-B60E-F2D7-B8C7-63FCA670F15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93124" y="1524238"/>
            <a:ext cx="4183075" cy="1939684"/>
          </a:xfrm>
          <a:prstGeom prst="rect">
            <a:avLst/>
          </a:prstGeom>
          <a:ln>
            <a:solidFill>
              <a:schemeClr val="tx1"/>
            </a:solidFill>
          </a:ln>
        </p:spPr>
      </p:pic>
    </p:spTree>
    <p:extLst>
      <p:ext uri="{BB962C8B-B14F-4D97-AF65-F5344CB8AC3E}">
        <p14:creationId xmlns:p14="http://schemas.microsoft.com/office/powerpoint/2010/main" val="1235593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7FC30-1617-33DB-C9AF-21DAD77BA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80D5C-2D46-4951-DD94-7A4EBA30DEF6}"/>
              </a:ext>
            </a:extLst>
          </p:cNvPr>
          <p:cNvSpPr>
            <a:spLocks noGrp="1"/>
          </p:cNvSpPr>
          <p:nvPr>
            <p:ph type="title"/>
          </p:nvPr>
        </p:nvSpPr>
        <p:spPr>
          <a:xfrm>
            <a:off x="677334" y="609600"/>
            <a:ext cx="8596668" cy="685800"/>
          </a:xfrm>
        </p:spPr>
        <p:txBody>
          <a:bodyPr/>
          <a:lstStyle/>
          <a:p>
            <a:r>
              <a:rPr lang="en-US" b="1" dirty="0"/>
              <a:t>Experimental Results</a:t>
            </a:r>
          </a:p>
        </p:txBody>
      </p:sp>
      <p:sp>
        <p:nvSpPr>
          <p:cNvPr id="4" name="TextBox 3">
            <a:extLst>
              <a:ext uri="{FF2B5EF4-FFF2-40B4-BE49-F238E27FC236}">
                <a16:creationId xmlns:a16="http://schemas.microsoft.com/office/drawing/2014/main" id="{0176893D-47B1-938A-E39E-28DE208B428A}"/>
              </a:ext>
            </a:extLst>
          </p:cNvPr>
          <p:cNvSpPr txBox="1"/>
          <p:nvPr/>
        </p:nvSpPr>
        <p:spPr>
          <a:xfrm>
            <a:off x="1600200" y="1295400"/>
            <a:ext cx="5875866" cy="2308324"/>
          </a:xfrm>
          <a:prstGeom prst="rect">
            <a:avLst/>
          </a:prstGeom>
          <a:noFill/>
        </p:spPr>
        <p:txBody>
          <a:bodyPr wrap="square" rtlCol="0">
            <a:spAutoFit/>
          </a:bodyPr>
          <a:lstStyle/>
          <a:p>
            <a:r>
              <a:rPr lang="en-US" dirty="0"/>
              <a:t>📊 100 dummy students were generated with varying scores.</a:t>
            </a:r>
          </a:p>
          <a:p>
            <a:endParaRPr lang="en-US" dirty="0"/>
          </a:p>
          <a:p>
            <a:r>
              <a:rPr lang="en-US" dirty="0"/>
              <a:t>✅ Leaderboard accurately reflected top performers       based on all metrics.</a:t>
            </a:r>
          </a:p>
          <a:p>
            <a:br>
              <a:rPr lang="en-US" dirty="0"/>
            </a:br>
            <a:r>
              <a:rPr lang="en-US" dirty="0"/>
              <a:t>✅ The system dynamically updates the HTML leaderboard upon data change.</a:t>
            </a:r>
          </a:p>
        </p:txBody>
      </p:sp>
      <p:pic>
        <p:nvPicPr>
          <p:cNvPr id="5" name="Picture 4">
            <a:extLst>
              <a:ext uri="{FF2B5EF4-FFF2-40B4-BE49-F238E27FC236}">
                <a16:creationId xmlns:a16="http://schemas.microsoft.com/office/drawing/2014/main" id="{DFAF522F-DA57-ED5D-4B5C-60A4B39621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0" y="3835778"/>
            <a:ext cx="5562600" cy="2488822"/>
          </a:xfrm>
          <a:prstGeom prst="rect">
            <a:avLst/>
          </a:prstGeom>
          <a:ln>
            <a:solidFill>
              <a:schemeClr val="tx1"/>
            </a:solidFill>
          </a:ln>
        </p:spPr>
      </p:pic>
    </p:spTree>
    <p:extLst>
      <p:ext uri="{BB962C8B-B14F-4D97-AF65-F5344CB8AC3E}">
        <p14:creationId xmlns:p14="http://schemas.microsoft.com/office/powerpoint/2010/main" val="4271601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973" y="1068071"/>
            <a:ext cx="5439884" cy="1072124"/>
          </a:xfrm>
        </p:spPr>
        <p:txBody>
          <a:bodyPr>
            <a:noAutofit/>
          </a:bodyPr>
          <a:lstStyle/>
          <a:p>
            <a:r>
              <a:rPr lang="en-US" sz="3600" spc="-150" dirty="0"/>
              <a:t>Conclusion</a:t>
            </a:r>
          </a:p>
        </p:txBody>
      </p:sp>
      <p:sp>
        <p:nvSpPr>
          <p:cNvPr id="3" name="Subtitle 2"/>
          <p:cNvSpPr>
            <a:spLocks noGrp="1"/>
          </p:cNvSpPr>
          <p:nvPr>
            <p:ph idx="1"/>
          </p:nvPr>
        </p:nvSpPr>
        <p:spPr>
          <a:xfrm>
            <a:off x="1083973" y="2362199"/>
            <a:ext cx="7326602" cy="3667125"/>
          </a:xfrm>
        </p:spPr>
        <p:txBody>
          <a:bodyPr>
            <a:normAutofit/>
          </a:bodyPr>
          <a:lstStyle/>
          <a:p>
            <a:pPr marL="285750" indent="-285750">
              <a:buFont typeface="Wingdings" panose="05000000000000000000" pitchFamily="2" charset="2"/>
              <a:buChar char="Ø"/>
            </a:pPr>
            <a:r>
              <a:rPr lang="en-US" sz="1800" dirty="0">
                <a:solidFill>
                  <a:schemeClr val="tx1"/>
                </a:solidFill>
                <a:latin typeface="+mj-lt"/>
              </a:rPr>
              <a:t>Career Connect provides a structured, efficient, and engaging way to manage college placements &amp; internships</a:t>
            </a:r>
          </a:p>
          <a:p>
            <a:pPr marL="285750" indent="-285750">
              <a:buFont typeface="Wingdings" panose="05000000000000000000" pitchFamily="2" charset="2"/>
              <a:buChar char="Ø"/>
            </a:pPr>
            <a:r>
              <a:rPr lang="en-US" sz="1800" dirty="0">
                <a:solidFill>
                  <a:schemeClr val="tx1"/>
                </a:solidFill>
                <a:latin typeface="+mj-lt"/>
              </a:rPr>
              <a:t>Gamification &amp; data-driven insights ensure students stay motivated and competitive</a:t>
            </a:r>
          </a:p>
          <a:p>
            <a:pPr marL="285750" indent="-285750">
              <a:buFont typeface="Wingdings" panose="05000000000000000000" pitchFamily="2" charset="2"/>
              <a:buChar char="Ø"/>
            </a:pPr>
            <a:r>
              <a:rPr lang="en-US" sz="1800" dirty="0">
                <a:solidFill>
                  <a:schemeClr val="tx1"/>
                </a:solidFill>
                <a:latin typeface="+mj-lt"/>
              </a:rPr>
              <a:t> Placement officers get a centralized system to handle recruitment more efficiently</a:t>
            </a:r>
          </a:p>
        </p:txBody>
      </p:sp>
      <p:sp>
        <p:nvSpPr>
          <p:cNvPr id="6" name="Date Placeholder 5"/>
          <p:cNvSpPr>
            <a:spLocks noGrp="1"/>
          </p:cNvSpPr>
          <p:nvPr>
            <p:ph type="dt" sz="half" idx="10"/>
          </p:nvPr>
        </p:nvSpPr>
        <p:spPr>
          <a:xfrm>
            <a:off x="1333500" y="6356350"/>
            <a:ext cx="985157" cy="365125"/>
          </a:xfrm>
        </p:spPr>
        <p:txBody>
          <a:bodyPr/>
          <a:lstStyle/>
          <a:p>
            <a:r>
              <a:rPr lang="en-US" dirty="0"/>
              <a:t>2025</a:t>
            </a:r>
          </a:p>
        </p:txBody>
      </p:sp>
      <p:sp>
        <p:nvSpPr>
          <p:cNvPr id="5" name="Footer Placeholder 4"/>
          <p:cNvSpPr>
            <a:spLocks noGrp="1"/>
          </p:cNvSpPr>
          <p:nvPr>
            <p:ph type="ftr" sz="quarter" idx="11"/>
          </p:nvPr>
        </p:nvSpPr>
        <p:spPr>
          <a:xfrm>
            <a:off x="2669886" y="6356349"/>
            <a:ext cx="2482842" cy="365125"/>
          </a:xfrm>
        </p:spPr>
        <p:txBody>
          <a:bodyPr/>
          <a:lstStyle/>
          <a:p>
            <a:r>
              <a:rPr lang="en-US" dirty="0"/>
              <a:t>Career Connect</a:t>
            </a:r>
          </a:p>
        </p:txBody>
      </p:sp>
      <p:sp>
        <p:nvSpPr>
          <p:cNvPr id="4" name="Slide Number Placeholder 3"/>
          <p:cNvSpPr>
            <a:spLocks noGrp="1"/>
          </p:cNvSpPr>
          <p:nvPr>
            <p:ph type="sldNum" sz="quarter" idx="12"/>
          </p:nvPr>
        </p:nvSpPr>
        <p:spPr>
          <a:xfrm>
            <a:off x="5536305" y="6356350"/>
            <a:ext cx="987552" cy="365125"/>
          </a:xfrm>
        </p:spPr>
        <p:txBody>
          <a:bodyPr/>
          <a:lstStyle/>
          <a:p>
            <a:fld id="{19B51A1E-902D-48AF-9020-955120F399B6}" type="slidenum">
              <a:rPr lang="en-US" smtClean="0"/>
              <a:t>17</a:t>
            </a:fld>
            <a:endParaRPr lang="en-US" dirty="0"/>
          </a:p>
        </p:txBody>
      </p:sp>
    </p:spTree>
    <p:extLst>
      <p:ext uri="{BB962C8B-B14F-4D97-AF65-F5344CB8AC3E}">
        <p14:creationId xmlns:p14="http://schemas.microsoft.com/office/powerpoint/2010/main" val="4037166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10454" y="1615736"/>
            <a:ext cx="5328138" cy="2006695"/>
          </a:xfrm>
        </p:spPr>
        <p:txBody>
          <a:bodyPr/>
          <a:lstStyle/>
          <a:p>
            <a:r>
              <a:rPr lang="en-US" sz="4800" dirty="0"/>
              <a:t>THANK YOU!</a:t>
            </a:r>
          </a:p>
        </p:txBody>
      </p:sp>
      <p:sp>
        <p:nvSpPr>
          <p:cNvPr id="3" name="Content Placeholder 2"/>
          <p:cNvSpPr>
            <a:spLocks noGrp="1"/>
          </p:cNvSpPr>
          <p:nvPr>
            <p:ph type="subTitle" idx="1"/>
          </p:nvPr>
        </p:nvSpPr>
        <p:spPr>
          <a:xfrm flipV="1">
            <a:off x="0" y="6721475"/>
            <a:ext cx="45719" cy="45719"/>
          </a:xfrm>
        </p:spPr>
        <p:txBody>
          <a:bodyPr>
            <a:normAutofit fontScale="25000" lnSpcReduction="20000"/>
          </a:bodyPr>
          <a:lstStyle/>
          <a:p>
            <a:endParaRPr lang="en-US" dirty="0"/>
          </a:p>
        </p:txBody>
      </p:sp>
      <p:sp>
        <p:nvSpPr>
          <p:cNvPr id="4" name="Date Placeholder 3"/>
          <p:cNvSpPr>
            <a:spLocks noGrp="1"/>
          </p:cNvSpPr>
          <p:nvPr>
            <p:ph type="dt" sz="half" idx="10"/>
          </p:nvPr>
        </p:nvSpPr>
        <p:spPr>
          <a:xfrm>
            <a:off x="4267200" y="6356350"/>
            <a:ext cx="1774371" cy="365125"/>
          </a:xfrm>
        </p:spPr>
        <p:txBody>
          <a:bodyPr/>
          <a:lstStyle/>
          <a:p>
            <a:r>
              <a:rPr lang="en-US" dirty="0"/>
              <a:t>2025</a:t>
            </a:r>
          </a:p>
        </p:txBody>
      </p:sp>
      <p:sp>
        <p:nvSpPr>
          <p:cNvPr id="5" name="Footer Placeholder 4"/>
          <p:cNvSpPr>
            <a:spLocks noGrp="1"/>
          </p:cNvSpPr>
          <p:nvPr>
            <p:ph type="ftr" sz="quarter" idx="11"/>
          </p:nvPr>
        </p:nvSpPr>
        <p:spPr>
          <a:xfrm>
            <a:off x="6479721" y="6356350"/>
            <a:ext cx="2661557" cy="365125"/>
          </a:xfrm>
        </p:spPr>
        <p:txBody>
          <a:bodyPr/>
          <a:lstStyle/>
          <a:p>
            <a:r>
              <a:rPr lang="en-US" dirty="0"/>
              <a:t>Career Connect</a:t>
            </a:r>
          </a:p>
        </p:txBody>
      </p:sp>
      <p:sp>
        <p:nvSpPr>
          <p:cNvPr id="6" name="Slide Number Placeholder 5"/>
          <p:cNvSpPr>
            <a:spLocks noGrp="1"/>
          </p:cNvSpPr>
          <p:nvPr>
            <p:ph type="sldNum" sz="quarter" idx="12"/>
          </p:nvPr>
        </p:nvSpPr>
        <p:spPr>
          <a:xfrm>
            <a:off x="9579428" y="6356350"/>
            <a:ext cx="1774371" cy="365125"/>
          </a:xfrm>
        </p:spPr>
        <p:txBody>
          <a:bodyPr/>
          <a:lstStyle/>
          <a:p>
            <a:fld id="{B5CEABB6-07DC-46E8-9B57-56EC44A396E5}" type="slidenum">
              <a:rPr lang="en-US" smtClean="0"/>
              <a:t>18</a:t>
            </a:fld>
            <a:endParaRPr lang="en-US" dirty="0"/>
          </a:p>
        </p:txBody>
      </p:sp>
    </p:spTree>
    <p:extLst>
      <p:ext uri="{BB962C8B-B14F-4D97-AF65-F5344CB8AC3E}">
        <p14:creationId xmlns:p14="http://schemas.microsoft.com/office/powerpoint/2010/main" val="150817213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TotalTime>
  <Words>1208</Words>
  <Application>Microsoft Office PowerPoint</Application>
  <PresentationFormat>Widescreen</PresentationFormat>
  <Paragraphs>156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Times New Roman</vt:lpstr>
      <vt:lpstr>Trebuchet MS</vt:lpstr>
      <vt:lpstr>Wingdings</vt:lpstr>
      <vt:lpstr>Wingdings 3</vt:lpstr>
      <vt:lpstr>Facet</vt:lpstr>
      <vt:lpstr>Modern Education Society's Wadia College of Engineering (MESWCOE)</vt:lpstr>
      <vt:lpstr>Introduction</vt:lpstr>
      <vt:lpstr>MOTIVATION</vt:lpstr>
      <vt:lpstr>PROBLEM STATEMENT </vt:lpstr>
      <vt:lpstr>Literature survey</vt:lpstr>
      <vt:lpstr>Literature survey</vt:lpstr>
      <vt:lpstr>Literature survey</vt:lpstr>
      <vt:lpstr>Literature survey</vt:lpstr>
      <vt:lpstr>Literature survey</vt:lpstr>
      <vt:lpstr>Objective</vt:lpstr>
      <vt:lpstr>Proposed Methodology </vt:lpstr>
      <vt:lpstr>Proposed Methodology </vt:lpstr>
      <vt:lpstr>Proposed Methodology </vt:lpstr>
      <vt:lpstr>Implementation</vt:lpstr>
      <vt:lpstr>Implementation</vt:lpstr>
      <vt:lpstr>Experimental 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pratik dhawale</dc:creator>
  <cp:lastModifiedBy>pratik dhawale</cp:lastModifiedBy>
  <cp:revision>4</cp:revision>
  <dcterms:created xsi:type="dcterms:W3CDTF">2025-04-15T18:48:59Z</dcterms:created>
  <dcterms:modified xsi:type="dcterms:W3CDTF">2025-04-15T20:17:30Z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2025-02-17T00:00:00Z</vt:filetime>
  </property>
  <property fmtid="{D5CDD505-2E9C-101B-9397-08002B2CF9AE}" pid="3" name="Creator">
    <vt:lpwstr>Microsoft® PowerPoint® 2016</vt:lpwstr>
  </property>
  <property fmtid="{D5CDD505-2E9C-101B-9397-08002B2CF9AE}" pid="4" name="LastSaved">
    <vt:filetime>2025-04-15T00:00:00Z</vt:filetime>
  </property>
  <property fmtid="{D5CDD505-2E9C-101B-9397-08002B2CF9AE}" pid="5" name="Producer">
    <vt:lpwstr>www.ilovepdf.com</vt:lpwstr>
  </property>
</Properties>
</file>